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8b6e79d-bb43-b8c9-1e43-75475e085ba8}">
          <p14:sldIdLst>
            <p14:sldId id="256"/>
          </p14:sldIdLst>
        </p14:section>
        <p14:section name="연혁과 성과" id="{569b6dc9-ebf4-693e-fff4-2088f112a984}">
          <p14:sldIdLst>
            <p14:sldId id="257"/>
            <p14:sldId id="258"/>
          </p14:sldIdLst>
        </p14:section>
        <p14:section name="연구 배경" id="{da820fd1-c009-f76f-a8e2-641f0ef6bc62}">
          <p14:sldIdLst>
            <p14:sldId id="259"/>
            <p14:sldId id="260"/>
          </p14:sldIdLst>
        </p14:section>
        <p14:section name="연구 계획" id="{5a950f20-34b6-388f-ce31-644a9a8416ca}">
          <p14:sldIdLst>
            <p14:sldId id="261"/>
            <p14:sldId id="262"/>
            <p14:sldId id="263"/>
            <p14:sldId id="264"/>
          </p14:sldIdLst>
        </p14:section>
        <p14:section name="기대 효과와 포부" id="{ce1d7007-5995-b49a-a388-72491cb69a2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 25초]
안녕하세요. 박사과정 협동과정 조경학전공에 지원한 박정은입니다. 저는 이화여대에서 공간디자인을, 서울대 대학원에서 생태조경학을 공부했고, 석사논문에서는 유리코 사이토의 돌봄 미학으로 정원하기를 다뤘습니다. 오늘은 ‘정원은 어떻게 지속되는가’라는 연구계획을 5분 동안 말씀드리겠습니다.
내용 출처: 자기소개 및 수학(연구)계획서 1쪽. 디자인 참고: 4.제안서 설명회 발표자료.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[0:25–0:55 · 30초]
지난 10년의 연혁입니다. 2016년 공간디자인으로 시작해 인턴십과 용산공원 국민참여단, 한국정원협회 간사를 거치며 관심이 공간의 조성에서 참여와 운영으로 넓어졌습니다. 대학원에서는 자생식물 연구과제와 두 번의 학회 발표를 거쳐 석사논문을 썼고, 현재는 서울가드닝클럽에서 공유정원을 운영하고 있습니다.
내용 출처: 자기소개 및 수학(연구)계획서 1–2쪽(경력 사항).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[0:55–1:25 · 30초]
이 과정에서 얻은 결과입니다. 2019년 교내전시회 ‘smart play’ 수상, 2021년 용산공원 국민참여단 우수상을 받았습니다. 2023년과 2024년에는 한국조경학회에서 하이퍼네이처와 사이토의 돌봄 미학을 발표했습니다. 설계에서는 화성 어은천의 탐조 공간 ‘THE WOVEN PAVILION’과 문화비축기지 팀 프로젝트로 공간과 이용, 지속가능성을 구체화했습니다.
내용 출처: 자기소개 및 수학(연구)계획서 4–5쪽(상벌사항, 기타), 11–12쪽(연구실적).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[1:25–1:55 · 30초]
그 과정에서 제 질문이 바뀌었습니다. 학부에서는 ‘어떤 공간을 만들 것인가’를 물었고, 석사에서는 식물의 변화에 응답하는 정원하기를 돌봄으로 해석했습니다. 공유정원 현장에서는 그 돌봄이 어떤 조건에서 이어지고 어디서 멈추는지를 묻게 되었습니다. 박사과정은 이 세 질문을 하나의 연구로 연결하려는 것입니다.
내용 출처: 자기소개 및 수학(연구)계획서 3쪽(지원동기), 6쪽(연구 관심이 형성된 계기).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[1:55–2:25 · 30초]
현재 서울가드닝클럽에서는 아이파크몰 가드닝클럽의 식물 준비와 현장 배치, 당수원팜의 교육·계절 프로그램 기획, 그리고 사례 조사와 제안서 작성에 참여하고 있습니다. 현장에서는 물을 쓸 곳이 없거나 도구를 둘 곳이 없으면, 참여 의지가 있어도 활동이 쉽게 끊깁니다. 프로그램이 없는 날 누가 정원을 돌보는가, 이것이 제가 찾은 연구 과제입니다.
내용 출처: 자기소개 및 수학(연구)계획서 1쪽, 3쪽(공유정원 현장에서 발견한 연구 과제), 6쪽.
이미지: 4.제안서 설명회 발표자료 25쪽의 서울가드닝클럽 활동 소개 이미지(발표자 개인의 수행 실적 증빙 사진이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[2:25–2:55 · 30초]
그래서 잠정 연구 제목을 ‘정원은 어떻게 지속되는가’로 정했습니다. 세 가지를 묻겠습니다. 돌보는 사람은 변화를 무엇으로 알아차리고 어떤 기준으로 대응하는가, 경험과 지식은 공동 작업에서 어떻게 공유되고 충돌하는가, 이 실천이 이어지려면 어떤 공간과 운영 체계가 필요한가입니다. 참여자의 선의나 헌신만으로 설명하지 않고, 행동을 가능하게 하거나 어렵게 하는 조건까지 함께 보겠습니다.
내용 출처: 자기소개 및 수학(연구)계획서 5쪽(1. 희망 연구분야와 문제의식), 9–11쪽(참고문헌).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[2:55–3:30 · 35초]
연구는 세 주제로 구성합니다. 첫째, 돌봄의 관점에서 정원의 의미와 주체의 변화를 문헌으로 정리해 돌봄, 참여, 책임, 권한의 개념을 세웁니다. 둘째, 시민정원사와 전문 정원사의 돌봄 실천과 미적 판단을 관찰합니다. 셋째, 급수와 도구, 교육, 역할 분담 같은 인프라와 공동운영을 보면서 담당자 교체처럼 연속성이 흔들리는 시점에 주목하겠습니다.
내용 출처: 자기소개 및 수학(연구)계획서 6–8쪽(3. 박사과정에서 탐구하고 싶은 세 가지 주제).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[3:30–4:05 · 35초]
현장연구는 서울·수도권의 도시정원 약 세 곳에서 진행합니다. 시민이 실제 관리에 참여하고, 2년 이상 운영되었으며, 관리 주체와 지원 방식이 서로 다른 곳을 고르겠습니다. 계절별로 반복 관찰하며 심층면담을 하고, 면담 내용을 운영일지와 작업 장면에 대조한 뒤 코딩해 사례를 비교합니다. 참여자의 동의와 익명성을 지키고, 제 실무 경험과 연구에서 새로 확인한 자료를 구분하겠습니다.
내용 출처: 자기소개 및 수학(연구)계획서 8–10쪽(4. 연구를 구체화하기 위한 수학과 실천 계획, 5. 예상하는 연구의 한계와 보완 방향).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[4:05–4:30 · 25초]
일정은 1년 차에 문헌 검토와 예비조사로 질문과 사례 기준을 다듬고, 2~3년 차에 계절별 현장조사와 비교분석을, 이후 주제별 논문과 학위논문으로 통합하겠습니다. 소수 사례라 일반화에는 한계가 있고, 제가 실무자라는 점도 한계이므로, 적용 조건을 함께 제시하고 자료를 구분해 기록하겠습니다.
내용 출처: 자기소개 및 수학(연구)계획서 9–10쪽(연구 일정, 5. 예상하는 연구의 한계와 보완 방향).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[4:30–5:00 · 30초]
이 연구는 정원사의 미적 판단과 관리 노동, 공간·운영 조건의 관계를 설명하고, 급수 동선과 역할 분담, 인계 같은 검토 항목으로 정리해 설계와 운영에 쓰이도록 하겠습니다. 자료를 구조화해 전달하는 역량과 설계·연구·현장을 잇는 경험을 바탕으로, 정원 조성 이후의 시간을 기록하고 그 기록을 현장의 판단에 연결하는 연구자가 되겠습니다. 감사합니다.
내용 출처: 자기소개 및 수학(연구)계획서 3–4쪽(성격의 장단점), 11–12쪽(석사·박사 이후의 계획).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689336" cy="7562088"/>
          </a:xfrm>
          <a:prstGeom prst="rect">
            <a:avLst/>
          </a:prstGeom>
          <a:solidFill>
            <a:schemeClr val="tx2"/>
          </a:solidFill>
          <a:ln/>
        </p:spPr>
      </p:sp>
      <p:sp>
        <p:nvSpPr>
          <p:cNvPr id="3" name="Text 1"/>
          <p:cNvSpPr/>
          <p:nvPr/>
        </p:nvSpPr>
        <p:spPr>
          <a:xfrm>
            <a:off x="502920" y="7114032"/>
            <a:ext cx="4572000" cy="274320"/>
          </a:xfrm>
          <a:prstGeom prst="rect">
            <a:avLst/>
          </a:prstGeom>
          <a:noFill/>
          <a:ln/>
        </p:spPr>
        <p:txBody>
          <a:bodyPr wrap="square" lIns="0" tIns="0" rIns="0" bIns="0" rtlCol="0" anchor="ctr"/>
          <a:lstStyle/>
          <a:p>
            <a:pPr indent="0" marL="0">
              <a:buNone/>
            </a:pPr>
            <a:r>
              <a:rPr lang="en-US" sz="1100" dirty="0">
                <a:solidFill>
                  <a:schemeClr val="accent6"/>
                </a:solidFill>
              </a:rPr>
              <a:t>박정은  ·  협동과정 조경학전공</a:t>
            </a:r>
            <a:endParaRPr lang="en-US" sz="11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7114032"/>
            <a:ext cx="4572000" cy="274320"/>
          </a:xfrm>
          <a:prstGeom prst="rect">
            <a:avLst/>
          </a:prstGeom>
          <a:noFill/>
          <a:ln/>
        </p:spPr>
        <p:txBody>
          <a:bodyPr wrap="square" lIns="0" tIns="0" rIns="0" bIns="0" rtlCol="0" anchor="ctr"/>
          <a:lstStyle/>
          <a:p>
            <a:pPr indent="0" marL="0">
              <a:buNone/>
            </a:pPr>
            <a:r>
              <a:rPr lang="en-US" sz="1100" dirty="0">
                <a:solidFill>
                  <a:schemeClr val="accent5"/>
                </a:solidFill>
              </a:rPr>
              <a:t>박정은  ·  협동과정 조경학전공</a:t>
            </a:r>
            <a:endParaRPr lang="en-US" sz="1100" dirty="0"/>
          </a:p>
        </p:txBody>
      </p:sp>
      <p:sp>
        <p:nvSpPr>
          <p:cNvPr id="3" name="Text 1"/>
          <p:cNvSpPr/>
          <p:nvPr>
            <p:ph idx="101" type="title" hasCustomPrompt="1"/>
          </p:nvPr>
        </p:nvSpPr>
        <p:spPr>
          <a:xfrm>
            <a:off x="502920" y="777240"/>
            <a:ext cx="9683496" cy="914400"/>
          </a:xfrm>
          <a:prstGeom prst="rect">
            <a:avLst/>
          </a:prstGeom>
          <a:noFill/>
          <a:ln/>
        </p:spPr>
        <p:txBody>
          <a:bodyPr wrap="square" rtlCol="0"/>
          <a:lstStyle>
            <a:lvl1pPr algn="ctr" indent="0" marL="0">
              <a:buNone/>
              <a:defRPr lang="en-US" sz="2500" b="1" dirty="0">
                <a:solidFill>
                  <a:schemeClr val="tx1"/>
                </a:solidFill>
              </a:defRPr>
            </a:lvl1pPr>
          </a:lstStyle>
          <a:p>
            <a:pPr algn="ctr" indent="0" marL="0">
              <a:buNone/>
            </a:pPr>
            <a:endParaRPr lang="en-US" sz="25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689336" cy="7562088"/>
          </a:xfrm>
          <a:prstGeom prst="rect">
            <a:avLst/>
          </a:prstGeom>
          <a:solidFill>
            <a:schemeClr val="tx2"/>
          </a:solidFill>
          <a:ln/>
        </p:spPr>
      </p:sp>
      <p:sp>
        <p:nvSpPr>
          <p:cNvPr id="3" name="Text 1"/>
          <p:cNvSpPr/>
          <p:nvPr/>
        </p:nvSpPr>
        <p:spPr>
          <a:xfrm>
            <a:off x="502920" y="7114032"/>
            <a:ext cx="4572000" cy="274320"/>
          </a:xfrm>
          <a:prstGeom prst="rect">
            <a:avLst/>
          </a:prstGeom>
          <a:noFill/>
          <a:ln/>
        </p:spPr>
        <p:txBody>
          <a:bodyPr wrap="square" lIns="0" tIns="0" rIns="0" bIns="0" rtlCol="0" anchor="ctr"/>
          <a:lstStyle/>
          <a:p>
            <a:pPr indent="0" marL="0">
              <a:buNone/>
            </a:pPr>
            <a:r>
              <a:rPr lang="en-US" sz="1100" dirty="0">
                <a:solidFill>
                  <a:schemeClr val="accent6"/>
                </a:solidFill>
              </a:rPr>
              <a:t>박정은  ·  협동과정 조경학전공</a:t>
            </a:r>
            <a:endParaRPr lang="en-US" sz="1100" dirty="0"/>
          </a:p>
        </p:txBody>
      </p:sp>
      <p:sp>
        <p:nvSpPr>
          <p:cNvPr id="4" name="Text 2"/>
          <p:cNvSpPr/>
          <p:nvPr>
            <p:ph idx="102" type="title" hasCustomPrompt="1"/>
          </p:nvPr>
        </p:nvSpPr>
        <p:spPr>
          <a:xfrm>
            <a:off x="502920" y="777240"/>
            <a:ext cx="9683496" cy="914400"/>
          </a:xfrm>
          <a:prstGeom prst="rect">
            <a:avLst/>
          </a:prstGeom>
          <a:noFill/>
          <a:ln/>
        </p:spPr>
        <p:txBody>
          <a:bodyPr wrap="square" rtlCol="0"/>
          <a:lstStyle>
            <a:lvl1pPr algn="ctr" indent="0" marL="0">
              <a:buNone/>
              <a:defRPr lang="en-US" sz="2500" b="1" dirty="0">
                <a:solidFill>
                  <a:schemeClr val="bg1"/>
                </a:solidFill>
              </a:defRPr>
            </a:lvl1pPr>
          </a:lstStyle>
          <a:p>
            <a:pPr algn="ctr" indent="0" marL="0">
              <a:buNone/>
            </a:pPr>
            <a:endParaRPr lang="en-US" sz="25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852160" cy="365760"/>
          </a:xfrm>
          <a:prstGeom prst="rect">
            <a:avLst/>
          </a:prstGeom>
          <a:noFill/>
          <a:ln/>
        </p:spPr>
        <p:txBody>
          <a:bodyPr wrap="square" lIns="0" tIns="0" rIns="0" bIns="0" rtlCol="0" anchor="t"/>
          <a:lstStyle/>
          <a:p>
            <a:pPr indent="0" marL="0">
              <a:buNone/>
            </a:pPr>
            <a:r>
              <a:rPr lang="en-US" sz="1500" b="1" dirty="0">
                <a:solidFill>
                  <a:schemeClr val="accent2"/>
                </a:solidFill>
              </a:rPr>
              <a:t>박사과정 지원 발표  ·  5분</a:t>
            </a:r>
            <a:endParaRPr lang="en-US" sz="1500" dirty="0"/>
          </a:p>
        </p:txBody>
      </p:sp>
      <p:sp>
        <p:nvSpPr>
          <p:cNvPr id="3" name="Text 1"/>
          <p:cNvSpPr txBox="1"/>
          <p:nvPr/>
        </p:nvSpPr>
        <p:spPr>
          <a:xfrm>
            <a:off x="640080" y="1234440"/>
            <a:ext cx="5943600" cy="2103120"/>
          </a:xfrm>
          <a:prstGeom prst="rect">
            <a:avLst/>
          </a:prstGeom>
          <a:noFill/>
          <a:ln/>
        </p:spPr>
        <p:txBody>
          <a:bodyPr wrap="square" lIns="0" tIns="0" rIns="0" bIns="0" rtlCol="0" anchor="ctr"/>
          <a:lstStyle/>
          <a:p>
            <a:pPr indent="0" marL="0">
              <a:buNone/>
            </a:pPr>
            <a:r>
              <a:rPr lang="en-US" sz="5600" b="1" dirty="0">
                <a:solidFill>
                  <a:schemeClr val="bg1"/>
                </a:solidFill>
              </a:rPr>
              <a:t>정원은 어떻게</a:t>
            </a:r>
            <a:endParaRPr lang="en-US" sz="5600" dirty="0"/>
          </a:p>
          <a:p>
            <a:pPr indent="0" marL="0">
              <a:buNone/>
            </a:pPr>
            <a:r>
              <a:rPr lang="en-US" sz="5600" b="1" dirty="0">
                <a:solidFill>
                  <a:schemeClr val="bg1"/>
                </a:solidFill>
              </a:rPr>
              <a:t>지속되는가</a:t>
            </a:r>
            <a:endParaRPr lang="en-US" sz="5600" dirty="0"/>
          </a:p>
        </p:txBody>
      </p:sp>
      <p:sp>
        <p:nvSpPr>
          <p:cNvPr id="4" name="Text 2"/>
          <p:cNvSpPr txBox="1"/>
          <p:nvPr/>
        </p:nvSpPr>
        <p:spPr>
          <a:xfrm>
            <a:off x="640080" y="3520440"/>
            <a:ext cx="6035040" cy="457200"/>
          </a:xfrm>
          <a:prstGeom prst="rect">
            <a:avLst/>
          </a:prstGeom>
          <a:noFill/>
          <a:ln/>
        </p:spPr>
        <p:txBody>
          <a:bodyPr wrap="square" lIns="0" tIns="0" rIns="0" bIns="0" rtlCol="0" anchor="t"/>
          <a:lstStyle/>
          <a:p>
            <a:pPr indent="0" marL="0">
              <a:buNone/>
            </a:pPr>
            <a:r>
              <a:rPr lang="en-US" sz="2200" b="1" dirty="0">
                <a:solidFill>
                  <a:schemeClr val="accent3"/>
                </a:solidFill>
              </a:rPr>
              <a:t>도시정원의 조성 이후 돌봄과 지속가능성</a:t>
            </a:r>
            <a:endParaRPr lang="en-US" sz="2200" dirty="0"/>
          </a:p>
        </p:txBody>
      </p:sp>
      <p:sp>
        <p:nvSpPr>
          <p:cNvPr id="5" name="Text 3"/>
          <p:cNvSpPr txBox="1"/>
          <p:nvPr/>
        </p:nvSpPr>
        <p:spPr>
          <a:xfrm>
            <a:off x="640080" y="4343400"/>
            <a:ext cx="2743200" cy="731520"/>
          </a:xfrm>
          <a:prstGeom prst="rect">
            <a:avLst/>
          </a:prstGeom>
          <a:noFill/>
          <a:ln/>
        </p:spPr>
        <p:txBody>
          <a:bodyPr wrap="square" lIns="0" tIns="0" rIns="0" bIns="0" rtlCol="0" anchor="ctr"/>
          <a:lstStyle/>
          <a:p>
            <a:pPr indent="0" marL="0">
              <a:buNone/>
            </a:pPr>
            <a:r>
              <a:rPr lang="en-US" sz="3800" b="1" dirty="0">
                <a:solidFill>
                  <a:schemeClr val="bg1"/>
                </a:solidFill>
              </a:rPr>
              <a:t>박정은</a:t>
            </a:r>
            <a:endParaRPr lang="en-US" sz="3800" dirty="0"/>
          </a:p>
        </p:txBody>
      </p:sp>
      <p:sp>
        <p:nvSpPr>
          <p:cNvPr id="6" name="Text 4"/>
          <p:cNvSpPr txBox="1"/>
          <p:nvPr/>
        </p:nvSpPr>
        <p:spPr>
          <a:xfrm>
            <a:off x="2926080" y="4389120"/>
            <a:ext cx="3840480" cy="685800"/>
          </a:xfrm>
          <a:prstGeom prst="rect">
            <a:avLst/>
          </a:prstGeom>
          <a:noFill/>
          <a:ln/>
        </p:spPr>
        <p:txBody>
          <a:bodyPr wrap="square" lIns="0" tIns="0" rIns="0" bIns="0" rtlCol="0" anchor="ctr"/>
          <a:lstStyle/>
          <a:p>
            <a:pPr indent="0" marL="0">
              <a:buNone/>
            </a:pPr>
            <a:r>
              <a:rPr lang="en-US" sz="1400" dirty="0">
                <a:solidFill>
                  <a:schemeClr val="accent6"/>
                </a:solidFill>
              </a:rPr>
              <a:t>PAK JEONGEUN</a:t>
            </a:r>
            <a:endParaRPr lang="en-US" sz="1400" dirty="0"/>
          </a:p>
          <a:p>
            <a:pPr indent="0" marL="0">
              <a:buNone/>
            </a:pPr>
            <a:r>
              <a:rPr lang="en-US" sz="1400" dirty="0">
                <a:solidFill>
                  <a:schemeClr val="accent6"/>
                </a:solidFill>
              </a:rPr>
              <a:t>서울대학교 대학원 생태조경학과 석사</a:t>
            </a:r>
            <a:endParaRPr lang="en-US" sz="1400" dirty="0"/>
          </a:p>
        </p:txBody>
      </p:sp>
      <p:sp>
        <p:nvSpPr>
          <p:cNvPr id="7" name="key-sentence"/>
          <p:cNvSpPr/>
          <p:nvPr/>
        </p:nvSpPr>
        <p:spPr>
          <a:xfrm>
            <a:off x="640080" y="5532120"/>
            <a:ext cx="6035040" cy="777240"/>
          </a:xfrm>
          <a:prstGeom prst="roundRect">
            <a:avLst>
              <a:gd name="adj" fmla="val 9412"/>
            </a:avLst>
          </a:prstGeom>
          <a:solidFill>
            <a:schemeClr val="accent3"/>
          </a:solidFill>
          <a:ln/>
        </p:spPr>
      </p:sp>
      <p:sp>
        <p:nvSpPr>
          <p:cNvPr id="8" name="Text 6"/>
          <p:cNvSpPr txBox="1"/>
          <p:nvPr/>
        </p:nvSpPr>
        <p:spPr>
          <a:xfrm>
            <a:off x="822960" y="5532120"/>
            <a:ext cx="5669280" cy="777240"/>
          </a:xfrm>
          <a:prstGeom prst="rect">
            <a:avLst/>
          </a:prstGeom>
          <a:noFill/>
          <a:ln/>
        </p:spPr>
        <p:txBody>
          <a:bodyPr wrap="square" lIns="0" tIns="0" rIns="0" bIns="0" rtlCol="0" anchor="ctr"/>
          <a:lstStyle/>
          <a:p>
            <a:pPr indent="0" marL="0">
              <a:buNone/>
            </a:pPr>
            <a:r>
              <a:rPr lang="en-US" sz="1600" b="1" dirty="0">
                <a:solidFill>
                  <a:schemeClr val="tx1"/>
                </a:solidFill>
              </a:rPr>
              <a:t>공간을 설계하고, 정원을 가꾸는 사람의</a:t>
            </a:r>
            <a:endParaRPr lang="en-US" sz="1600" dirty="0"/>
          </a:p>
          <a:p>
            <a:pPr indent="0" marL="0">
              <a:buNone/>
            </a:pPr>
            <a:r>
              <a:rPr lang="en-US" sz="1600" b="1" dirty="0">
                <a:solidFill>
                  <a:schemeClr val="tx1"/>
                </a:solidFill>
              </a:rPr>
              <a:t>돌봄을 연구해 온 박정은입니다</a:t>
            </a:r>
            <a:endParaRPr lang="en-US" sz="1600" dirty="0"/>
          </a:p>
        </p:txBody>
      </p:sp>
      <p:sp>
        <p:nvSpPr>
          <p:cNvPr id="9" name="info-card"/>
          <p:cNvSpPr/>
          <p:nvPr/>
        </p:nvSpPr>
        <p:spPr>
          <a:xfrm>
            <a:off x="7086600" y="822960"/>
            <a:ext cx="3108960" cy="914400"/>
          </a:xfrm>
          <a:prstGeom prst="roundRect">
            <a:avLst>
              <a:gd name="adj" fmla="val 8000"/>
            </a:avLst>
          </a:prstGeom>
          <a:solidFill>
            <a:schemeClr val="bg1">
              <a:alpha val="10000"/>
            </a:schemeClr>
          </a:solidFill>
          <a:ln/>
        </p:spPr>
      </p:sp>
      <p:sp>
        <p:nvSpPr>
          <p:cNvPr id="10" name="Text 8"/>
          <p:cNvSpPr txBox="1"/>
          <p:nvPr/>
        </p:nvSpPr>
        <p:spPr>
          <a:xfrm>
            <a:off x="7269480" y="932688"/>
            <a:ext cx="2743200" cy="256032"/>
          </a:xfrm>
          <a:prstGeom prst="rect">
            <a:avLst/>
          </a:prstGeom>
          <a:noFill/>
          <a:ln/>
        </p:spPr>
        <p:txBody>
          <a:bodyPr wrap="square" lIns="0" tIns="0" rIns="0" bIns="0" rtlCol="0" anchor="t"/>
          <a:lstStyle/>
          <a:p>
            <a:pPr indent="0" marL="0">
              <a:buNone/>
            </a:pPr>
            <a:r>
              <a:rPr lang="en-US" sz="1200" b="1" dirty="0">
                <a:solidFill>
                  <a:schemeClr val="accent2"/>
                </a:solidFill>
              </a:rPr>
              <a:t>모집단위</a:t>
            </a:r>
            <a:endParaRPr lang="en-US" sz="1200" dirty="0"/>
          </a:p>
        </p:txBody>
      </p:sp>
      <p:sp>
        <p:nvSpPr>
          <p:cNvPr id="11" name="Text 9"/>
          <p:cNvSpPr txBox="1"/>
          <p:nvPr/>
        </p:nvSpPr>
        <p:spPr>
          <a:xfrm>
            <a:off x="7269480" y="1234440"/>
            <a:ext cx="2788920" cy="457200"/>
          </a:xfrm>
          <a:prstGeom prst="rect">
            <a:avLst/>
          </a:prstGeom>
          <a:noFill/>
          <a:ln/>
        </p:spPr>
        <p:txBody>
          <a:bodyPr wrap="square" lIns="0" tIns="0" rIns="0" bIns="0" rtlCol="0" anchor="t"/>
          <a:lstStyle/>
          <a:p>
            <a:pPr indent="0" marL="0">
              <a:buNone/>
            </a:pPr>
            <a:r>
              <a:rPr lang="en-US" sz="1300" b="1" dirty="0">
                <a:solidFill>
                  <a:schemeClr val="bg1"/>
                </a:solidFill>
              </a:rPr>
              <a:t>박사과정 · 협동과정 조경학전공</a:t>
            </a:r>
            <a:endParaRPr lang="en-US" sz="1300" dirty="0"/>
          </a:p>
        </p:txBody>
      </p:sp>
      <p:sp>
        <p:nvSpPr>
          <p:cNvPr id="12" name="info-card"/>
          <p:cNvSpPr/>
          <p:nvPr/>
        </p:nvSpPr>
        <p:spPr>
          <a:xfrm>
            <a:off x="7086600" y="1920240"/>
            <a:ext cx="3108960" cy="1143000"/>
          </a:xfrm>
          <a:prstGeom prst="roundRect">
            <a:avLst>
              <a:gd name="adj" fmla="val 6400"/>
            </a:avLst>
          </a:prstGeom>
          <a:solidFill>
            <a:schemeClr val="bg1">
              <a:alpha val="10000"/>
            </a:schemeClr>
          </a:solidFill>
          <a:ln/>
        </p:spPr>
      </p:sp>
      <p:sp>
        <p:nvSpPr>
          <p:cNvPr id="13" name="Text 11"/>
          <p:cNvSpPr txBox="1"/>
          <p:nvPr/>
        </p:nvSpPr>
        <p:spPr>
          <a:xfrm>
            <a:off x="7269480" y="2029968"/>
            <a:ext cx="2743200" cy="256032"/>
          </a:xfrm>
          <a:prstGeom prst="rect">
            <a:avLst/>
          </a:prstGeom>
          <a:noFill/>
          <a:ln/>
        </p:spPr>
        <p:txBody>
          <a:bodyPr wrap="square" lIns="0" tIns="0" rIns="0" bIns="0" rtlCol="0" anchor="t"/>
          <a:lstStyle/>
          <a:p>
            <a:pPr indent="0" marL="0">
              <a:buNone/>
            </a:pPr>
            <a:r>
              <a:rPr lang="en-US" sz="1200" b="1" dirty="0">
                <a:solidFill>
                  <a:schemeClr val="accent2"/>
                </a:solidFill>
              </a:rPr>
              <a:t>희망전공분야</a:t>
            </a:r>
            <a:endParaRPr lang="en-US" sz="1200" dirty="0"/>
          </a:p>
        </p:txBody>
      </p:sp>
      <p:sp>
        <p:nvSpPr>
          <p:cNvPr id="14" name="Text 12"/>
          <p:cNvSpPr txBox="1"/>
          <p:nvPr/>
        </p:nvSpPr>
        <p:spPr>
          <a:xfrm>
            <a:off x="7269480" y="2331720"/>
            <a:ext cx="2788920" cy="685800"/>
          </a:xfrm>
          <a:prstGeom prst="rect">
            <a:avLst/>
          </a:prstGeom>
          <a:noFill/>
          <a:ln/>
        </p:spPr>
        <p:txBody>
          <a:bodyPr wrap="square" lIns="0" tIns="0" rIns="0" bIns="0" rtlCol="0" anchor="t"/>
          <a:lstStyle/>
          <a:p>
            <a:pPr indent="0" marL="0">
              <a:buNone/>
            </a:pPr>
            <a:r>
              <a:rPr lang="en-US" sz="1300" b="1" dirty="0">
                <a:solidFill>
                  <a:schemeClr val="bg1"/>
                </a:solidFill>
              </a:rPr>
              <a:t>조경이론·정원미학</a:t>
            </a:r>
            <a:endParaRPr lang="en-US" sz="1300" dirty="0"/>
          </a:p>
          <a:p>
            <a:pPr indent="0" marL="0">
              <a:buNone/>
            </a:pPr>
            <a:r>
              <a:rPr lang="en-US" sz="1300" b="1" dirty="0">
                <a:solidFill>
                  <a:schemeClr val="bg1"/>
                </a:solidFill>
              </a:rPr>
              <a:t>도시정원의 돌봄과 지속가능성</a:t>
            </a:r>
            <a:endParaRPr lang="en-US" sz="1300" dirty="0"/>
          </a:p>
        </p:txBody>
      </p:sp>
      <p:sp>
        <p:nvSpPr>
          <p:cNvPr id="15" name="info-card"/>
          <p:cNvSpPr/>
          <p:nvPr/>
        </p:nvSpPr>
        <p:spPr>
          <a:xfrm>
            <a:off x="7086600" y="3246120"/>
            <a:ext cx="3108960" cy="1554480"/>
          </a:xfrm>
          <a:prstGeom prst="roundRect">
            <a:avLst>
              <a:gd name="adj" fmla="val 4706"/>
            </a:avLst>
          </a:prstGeom>
          <a:solidFill>
            <a:schemeClr val="bg1">
              <a:alpha val="10000"/>
            </a:schemeClr>
          </a:solidFill>
          <a:ln/>
        </p:spPr>
      </p:sp>
      <p:sp>
        <p:nvSpPr>
          <p:cNvPr id="16" name="Text 14"/>
          <p:cNvSpPr txBox="1"/>
          <p:nvPr/>
        </p:nvSpPr>
        <p:spPr>
          <a:xfrm>
            <a:off x="7269480" y="3355848"/>
            <a:ext cx="2743200" cy="256032"/>
          </a:xfrm>
          <a:prstGeom prst="rect">
            <a:avLst/>
          </a:prstGeom>
          <a:noFill/>
          <a:ln/>
        </p:spPr>
        <p:txBody>
          <a:bodyPr wrap="square" lIns="0" tIns="0" rIns="0" bIns="0" rtlCol="0" anchor="t"/>
          <a:lstStyle/>
          <a:p>
            <a:pPr indent="0" marL="0">
              <a:buNone/>
            </a:pPr>
            <a:r>
              <a:rPr lang="en-US" sz="1200" b="1" dirty="0">
                <a:solidFill>
                  <a:schemeClr val="accent2"/>
                </a:solidFill>
              </a:rPr>
              <a:t>학력</a:t>
            </a:r>
            <a:endParaRPr lang="en-US" sz="1200" dirty="0"/>
          </a:p>
        </p:txBody>
      </p:sp>
      <p:sp>
        <p:nvSpPr>
          <p:cNvPr id="17" name="Text 15"/>
          <p:cNvSpPr txBox="1"/>
          <p:nvPr/>
        </p:nvSpPr>
        <p:spPr>
          <a:xfrm>
            <a:off x="7269480" y="3657600"/>
            <a:ext cx="2788920" cy="1097280"/>
          </a:xfrm>
          <a:prstGeom prst="rect">
            <a:avLst/>
          </a:prstGeom>
          <a:noFill/>
          <a:ln/>
        </p:spPr>
        <p:txBody>
          <a:bodyPr wrap="square" lIns="0" tIns="0" rIns="0" bIns="0" rtlCol="0" anchor="t"/>
          <a:lstStyle/>
          <a:p>
            <a:pPr indent="0" marL="0">
              <a:buNone/>
            </a:pPr>
            <a:r>
              <a:rPr lang="en-US" sz="1300" b="1" dirty="0">
                <a:solidFill>
                  <a:schemeClr val="bg1"/>
                </a:solidFill>
              </a:rPr>
              <a:t>2022.02 이화여자대학교 공간디자인 졸업</a:t>
            </a:r>
            <a:endParaRPr lang="en-US" sz="1300" dirty="0"/>
          </a:p>
          <a:p>
            <a:pPr indent="0" marL="0">
              <a:buNone/>
            </a:pPr>
            <a:r>
              <a:rPr lang="en-US" sz="1300" b="1" dirty="0">
                <a:solidFill>
                  <a:schemeClr val="bg1"/>
                </a:solidFill>
              </a:rPr>
              <a:t>2026.02 서울대학교 대학원 생태조경학과 졸업</a:t>
            </a:r>
            <a:endParaRPr lang="en-US" sz="1300" dirty="0"/>
          </a:p>
        </p:txBody>
      </p:sp>
      <p:sp>
        <p:nvSpPr>
          <p:cNvPr id="18" name="info-card"/>
          <p:cNvSpPr/>
          <p:nvPr/>
        </p:nvSpPr>
        <p:spPr>
          <a:xfrm>
            <a:off x="7086600" y="4983480"/>
            <a:ext cx="3108960" cy="1143000"/>
          </a:xfrm>
          <a:prstGeom prst="roundRect">
            <a:avLst>
              <a:gd name="adj" fmla="val 6400"/>
            </a:avLst>
          </a:prstGeom>
          <a:solidFill>
            <a:schemeClr val="bg1">
              <a:alpha val="10000"/>
            </a:schemeClr>
          </a:solidFill>
          <a:ln/>
        </p:spPr>
      </p:sp>
      <p:sp>
        <p:nvSpPr>
          <p:cNvPr id="19" name="Text 17"/>
          <p:cNvSpPr txBox="1"/>
          <p:nvPr/>
        </p:nvSpPr>
        <p:spPr>
          <a:xfrm>
            <a:off x="7269480" y="5093208"/>
            <a:ext cx="2743200" cy="256032"/>
          </a:xfrm>
          <a:prstGeom prst="rect">
            <a:avLst/>
          </a:prstGeom>
          <a:noFill/>
          <a:ln/>
        </p:spPr>
        <p:txBody>
          <a:bodyPr wrap="square" lIns="0" tIns="0" rIns="0" bIns="0" rtlCol="0" anchor="t"/>
          <a:lstStyle/>
          <a:p>
            <a:pPr indent="0" marL="0">
              <a:buNone/>
            </a:pPr>
            <a:r>
              <a:rPr lang="en-US" sz="1200" b="1" dirty="0">
                <a:solidFill>
                  <a:schemeClr val="accent2"/>
                </a:solidFill>
              </a:rPr>
              <a:t>현재</a:t>
            </a:r>
            <a:endParaRPr lang="en-US" sz="1200" dirty="0"/>
          </a:p>
        </p:txBody>
      </p:sp>
      <p:sp>
        <p:nvSpPr>
          <p:cNvPr id="20" name="Text 18"/>
          <p:cNvSpPr txBox="1"/>
          <p:nvPr/>
        </p:nvSpPr>
        <p:spPr>
          <a:xfrm>
            <a:off x="7269480" y="5394960"/>
            <a:ext cx="2788920" cy="685800"/>
          </a:xfrm>
          <a:prstGeom prst="rect">
            <a:avLst/>
          </a:prstGeom>
          <a:noFill/>
          <a:ln/>
        </p:spPr>
        <p:txBody>
          <a:bodyPr wrap="square" lIns="0" tIns="0" rIns="0" bIns="0" rtlCol="0" anchor="t"/>
          <a:lstStyle/>
          <a:p>
            <a:pPr indent="0" marL="0">
              <a:buNone/>
            </a:pPr>
            <a:r>
              <a:rPr lang="en-US" sz="1300" b="1" dirty="0">
                <a:solidFill>
                  <a:schemeClr val="bg1"/>
                </a:solidFill>
              </a:rPr>
              <a:t>서울가드닝클럽</a:t>
            </a:r>
            <a:endParaRPr lang="en-US" sz="1300" dirty="0"/>
          </a:p>
          <a:p>
            <a:pPr indent="0" marL="0">
              <a:buNone/>
            </a:pPr>
            <a:r>
              <a:rPr lang="en-US" sz="1300" b="1" dirty="0">
                <a:solidFill>
                  <a:schemeClr val="bg1"/>
                </a:solidFill>
              </a:rPr>
              <a:t>공유정원 운영 · 프로그램 기획 참여</a:t>
            </a:r>
            <a:endParaRPr lang="en-US" sz="13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연혁</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01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공간디자인에서 시작해 정원의 돌봄까지,</a:t>
            </a:r>
            <a:endParaRPr lang="en-US" sz="2500" dirty="0"/>
          </a:p>
          <a:p>
            <a:pPr algn="ctr" indent="0" marL="0">
              <a:buNone/>
            </a:pPr>
            <a:r>
              <a:rPr lang="en-US" sz="2500" b="1" dirty="0">
                <a:solidFill>
                  <a:schemeClr val="tx1"/>
                </a:solidFill>
              </a:rPr>
              <a:t>10년간 관심을 넓혀 왔습니다</a:t>
            </a:r>
            <a:endParaRPr lang="en-US" sz="2500" dirty="0"/>
          </a:p>
        </p:txBody>
      </p:sp>
      <p:sp>
        <p:nvSpPr>
          <p:cNvPr id="5" name="lane-label"/>
          <p:cNvSpPr/>
          <p:nvPr/>
        </p:nvSpPr>
        <p:spPr>
          <a:xfrm>
            <a:off x="502920" y="1783080"/>
            <a:ext cx="1234440" cy="1389888"/>
          </a:xfrm>
          <a:prstGeom prst="roundRect">
            <a:avLst>
              <a:gd name="adj" fmla="val 5926"/>
            </a:avLst>
          </a:prstGeom>
          <a:solidFill>
            <a:schemeClr val="accent1"/>
          </a:solidFill>
          <a:ln/>
        </p:spPr>
      </p:sp>
      <p:sp>
        <p:nvSpPr>
          <p:cNvPr id="6" name="Text 4"/>
          <p:cNvSpPr txBox="1"/>
          <p:nvPr/>
        </p:nvSpPr>
        <p:spPr>
          <a:xfrm>
            <a:off x="594360" y="1783080"/>
            <a:ext cx="1051560" cy="1389888"/>
          </a:xfrm>
          <a:prstGeom prst="rect">
            <a:avLst/>
          </a:prstGeom>
          <a:noFill/>
          <a:ln/>
        </p:spPr>
        <p:txBody>
          <a:bodyPr wrap="square" lIns="0" tIns="0" rIns="0" bIns="0" rtlCol="0" anchor="ctr"/>
          <a:lstStyle/>
          <a:p>
            <a:pPr algn="ctr" indent="0" marL="0">
              <a:buNone/>
            </a:pPr>
            <a:r>
              <a:rPr lang="en-US" sz="1500" b="1" dirty="0">
                <a:solidFill>
                  <a:schemeClr val="bg1"/>
                </a:solidFill>
              </a:rPr>
              <a:t>학업·연구</a:t>
            </a:r>
            <a:endParaRPr lang="en-US" sz="1500" dirty="0"/>
          </a:p>
        </p:txBody>
      </p:sp>
      <p:sp>
        <p:nvSpPr>
          <p:cNvPr id="7" name="timeline-card"/>
          <p:cNvSpPr/>
          <p:nvPr/>
        </p:nvSpPr>
        <p:spPr>
          <a:xfrm>
            <a:off x="1874520" y="1783080"/>
            <a:ext cx="1981962" cy="1389888"/>
          </a:xfrm>
          <a:prstGeom prst="roundRect">
            <a:avLst>
              <a:gd name="adj" fmla="val 5263"/>
            </a:avLst>
          </a:prstGeom>
          <a:solidFill>
            <a:schemeClr val="bg2"/>
          </a:solidFill>
          <a:ln/>
        </p:spPr>
      </p:sp>
      <p:sp>
        <p:nvSpPr>
          <p:cNvPr id="8" name="Text 6"/>
          <p:cNvSpPr txBox="1"/>
          <p:nvPr/>
        </p:nvSpPr>
        <p:spPr>
          <a:xfrm>
            <a:off x="1984248" y="1874520"/>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2016.03–2022.02</a:t>
            </a:r>
            <a:endParaRPr lang="en-US" sz="1250" dirty="0"/>
          </a:p>
        </p:txBody>
      </p:sp>
      <p:sp>
        <p:nvSpPr>
          <p:cNvPr id="9" name="Text 7"/>
          <p:cNvSpPr txBox="1"/>
          <p:nvPr/>
        </p:nvSpPr>
        <p:spPr>
          <a:xfrm>
            <a:off x="1984248" y="2148840"/>
            <a:ext cx="1762506" cy="457200"/>
          </a:xfrm>
          <a:prstGeom prst="rect">
            <a:avLst/>
          </a:prstGeom>
          <a:noFill/>
          <a:ln/>
        </p:spPr>
        <p:txBody>
          <a:bodyPr wrap="square" lIns="0" tIns="0" rIns="0" bIns="0" rtlCol="0" anchor="t"/>
          <a:lstStyle/>
          <a:p>
            <a:pPr indent="0" marL="0">
              <a:buNone/>
            </a:pPr>
            <a:r>
              <a:rPr lang="en-US" sz="1400" b="1" dirty="0">
                <a:solidFill>
                  <a:schemeClr val="tx1"/>
                </a:solidFill>
              </a:rPr>
              <a:t>이화여대 공간디자인 전공</a:t>
            </a:r>
            <a:endParaRPr lang="en-US" sz="1400" dirty="0"/>
          </a:p>
        </p:txBody>
      </p:sp>
      <p:sp>
        <p:nvSpPr>
          <p:cNvPr id="10" name="Text 8"/>
          <p:cNvSpPr txBox="1"/>
          <p:nvPr/>
        </p:nvSpPr>
        <p:spPr>
          <a:xfrm>
            <a:off x="1984248" y="2633472"/>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사람의 행동과 공간의 관계 · 졸업설계 연결공간 제안</a:t>
            </a:r>
            <a:endParaRPr lang="en-US" sz="1150" dirty="0"/>
          </a:p>
        </p:txBody>
      </p:sp>
      <p:sp>
        <p:nvSpPr>
          <p:cNvPr id="11" name="timeline-card"/>
          <p:cNvSpPr/>
          <p:nvPr/>
        </p:nvSpPr>
        <p:spPr>
          <a:xfrm>
            <a:off x="3984498" y="1783080"/>
            <a:ext cx="1981962" cy="1389888"/>
          </a:xfrm>
          <a:prstGeom prst="roundRect">
            <a:avLst>
              <a:gd name="adj" fmla="val 5263"/>
            </a:avLst>
          </a:prstGeom>
          <a:solidFill>
            <a:schemeClr val="bg2"/>
          </a:solidFill>
          <a:ln/>
        </p:spPr>
      </p:sp>
      <p:sp>
        <p:nvSpPr>
          <p:cNvPr id="12" name="Text 10"/>
          <p:cNvSpPr txBox="1"/>
          <p:nvPr/>
        </p:nvSpPr>
        <p:spPr>
          <a:xfrm>
            <a:off x="4094226" y="1874520"/>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2023.03–2026.02</a:t>
            </a:r>
            <a:endParaRPr lang="en-US" sz="1250" dirty="0"/>
          </a:p>
        </p:txBody>
      </p:sp>
      <p:sp>
        <p:nvSpPr>
          <p:cNvPr id="13" name="Text 11"/>
          <p:cNvSpPr txBox="1"/>
          <p:nvPr/>
        </p:nvSpPr>
        <p:spPr>
          <a:xfrm>
            <a:off x="4094226" y="2148840"/>
            <a:ext cx="1762506" cy="457200"/>
          </a:xfrm>
          <a:prstGeom prst="rect">
            <a:avLst/>
          </a:prstGeom>
          <a:noFill/>
          <a:ln/>
        </p:spPr>
        <p:txBody>
          <a:bodyPr wrap="square" lIns="0" tIns="0" rIns="0" bIns="0" rtlCol="0" anchor="t"/>
          <a:lstStyle/>
          <a:p>
            <a:pPr indent="0" marL="0">
              <a:buNone/>
            </a:pPr>
            <a:r>
              <a:rPr lang="en-US" sz="1400" b="1" dirty="0">
                <a:solidFill>
                  <a:schemeClr val="tx1"/>
                </a:solidFill>
              </a:rPr>
              <a:t>서울대 석사과정</a:t>
            </a:r>
            <a:endParaRPr lang="en-US" sz="1400" dirty="0"/>
          </a:p>
        </p:txBody>
      </p:sp>
      <p:sp>
        <p:nvSpPr>
          <p:cNvPr id="14" name="Text 12"/>
          <p:cNvSpPr txBox="1"/>
          <p:nvPr/>
        </p:nvSpPr>
        <p:spPr>
          <a:xfrm>
            <a:off x="4094226" y="2633472"/>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생태조경학과 · 자연의 경험·창작과 정원하기의 돌봄 탐구</a:t>
            </a:r>
            <a:endParaRPr lang="en-US" sz="1150" dirty="0"/>
          </a:p>
        </p:txBody>
      </p:sp>
      <p:sp>
        <p:nvSpPr>
          <p:cNvPr id="15" name="timeline-card"/>
          <p:cNvSpPr/>
          <p:nvPr/>
        </p:nvSpPr>
        <p:spPr>
          <a:xfrm>
            <a:off x="6094476" y="1783080"/>
            <a:ext cx="1981962" cy="1389888"/>
          </a:xfrm>
          <a:prstGeom prst="roundRect">
            <a:avLst>
              <a:gd name="adj" fmla="val 5263"/>
            </a:avLst>
          </a:prstGeom>
          <a:solidFill>
            <a:schemeClr val="bg2"/>
          </a:solidFill>
          <a:ln/>
        </p:spPr>
      </p:sp>
      <p:sp>
        <p:nvSpPr>
          <p:cNvPr id="16" name="Text 14"/>
          <p:cNvSpPr txBox="1"/>
          <p:nvPr/>
        </p:nvSpPr>
        <p:spPr>
          <a:xfrm>
            <a:off x="6204204" y="1874520"/>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2023.10 · 2024.04</a:t>
            </a:r>
            <a:endParaRPr lang="en-US" sz="1250" dirty="0"/>
          </a:p>
        </p:txBody>
      </p:sp>
      <p:sp>
        <p:nvSpPr>
          <p:cNvPr id="17" name="Text 15"/>
          <p:cNvSpPr txBox="1"/>
          <p:nvPr/>
        </p:nvSpPr>
        <p:spPr>
          <a:xfrm>
            <a:off x="6204204" y="2148840"/>
            <a:ext cx="1762506" cy="457200"/>
          </a:xfrm>
          <a:prstGeom prst="rect">
            <a:avLst/>
          </a:prstGeom>
          <a:noFill/>
          <a:ln/>
        </p:spPr>
        <p:txBody>
          <a:bodyPr wrap="square" lIns="0" tIns="0" rIns="0" bIns="0" rtlCol="0" anchor="t"/>
          <a:lstStyle/>
          <a:p>
            <a:pPr indent="0" marL="0">
              <a:buNone/>
            </a:pPr>
            <a:r>
              <a:rPr lang="en-US" sz="1400" b="1" dirty="0">
                <a:solidFill>
                  <a:schemeClr val="tx1"/>
                </a:solidFill>
              </a:rPr>
              <a:t>한국조경학회 발표</a:t>
            </a:r>
            <a:endParaRPr lang="en-US" sz="1400" dirty="0"/>
          </a:p>
        </p:txBody>
      </p:sp>
      <p:sp>
        <p:nvSpPr>
          <p:cNvPr id="18" name="Text 16"/>
          <p:cNvSpPr txBox="1"/>
          <p:nvPr/>
        </p:nvSpPr>
        <p:spPr>
          <a:xfrm>
            <a:off x="6204204" y="2633472"/>
            <a:ext cx="1762506" cy="502920"/>
          </a:xfrm>
          <a:prstGeom prst="rect">
            <a:avLst/>
          </a:prstGeom>
          <a:noFill/>
          <a:ln/>
        </p:spPr>
        <p:txBody>
          <a:bodyPr wrap="square" lIns="0" tIns="0" rIns="0" bIns="0" rtlCol="0" anchor="t"/>
          <a:lstStyle/>
          <a:p>
            <a:pPr indent="0" marL="0">
              <a:buNone/>
            </a:pPr>
            <a:r>
              <a:rPr lang="en-US" sz="1150" dirty="0">
                <a:solidFill>
                  <a:schemeClr val="accent5"/>
                </a:solidFill>
              </a:rPr>
              <a:t>2건 · 하이퍼네이처, 사이토의 돌봄 미학</a:t>
            </a:r>
            <a:endParaRPr lang="en-US" sz="1150" dirty="0"/>
          </a:p>
        </p:txBody>
      </p:sp>
      <p:sp>
        <p:nvSpPr>
          <p:cNvPr id="19" name="timeline-card"/>
          <p:cNvSpPr/>
          <p:nvPr/>
        </p:nvSpPr>
        <p:spPr>
          <a:xfrm>
            <a:off x="8204454" y="1783080"/>
            <a:ext cx="1981962" cy="1389888"/>
          </a:xfrm>
          <a:prstGeom prst="roundRect">
            <a:avLst>
              <a:gd name="adj" fmla="val 5263"/>
            </a:avLst>
          </a:prstGeom>
          <a:solidFill>
            <a:schemeClr val="bg2"/>
          </a:solidFill>
          <a:ln/>
        </p:spPr>
      </p:sp>
      <p:sp>
        <p:nvSpPr>
          <p:cNvPr id="20" name="Text 18"/>
          <p:cNvSpPr txBox="1"/>
          <p:nvPr/>
        </p:nvSpPr>
        <p:spPr>
          <a:xfrm>
            <a:off x="8314182" y="1874520"/>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2026.02</a:t>
            </a:r>
            <a:endParaRPr lang="en-US" sz="1250" dirty="0"/>
          </a:p>
        </p:txBody>
      </p:sp>
      <p:sp>
        <p:nvSpPr>
          <p:cNvPr id="21" name="Text 19"/>
          <p:cNvSpPr txBox="1"/>
          <p:nvPr/>
        </p:nvSpPr>
        <p:spPr>
          <a:xfrm>
            <a:off x="8314182" y="2148840"/>
            <a:ext cx="1762506" cy="457200"/>
          </a:xfrm>
          <a:prstGeom prst="rect">
            <a:avLst/>
          </a:prstGeom>
          <a:noFill/>
          <a:ln/>
        </p:spPr>
        <p:txBody>
          <a:bodyPr wrap="square" lIns="0" tIns="0" rIns="0" bIns="0" rtlCol="0" anchor="t"/>
          <a:lstStyle/>
          <a:p>
            <a:pPr indent="0" marL="0">
              <a:buNone/>
            </a:pPr>
            <a:r>
              <a:rPr lang="en-US" sz="1400" b="1" dirty="0">
                <a:solidFill>
                  <a:schemeClr val="tx1"/>
                </a:solidFill>
              </a:rPr>
              <a:t>석사학위논문</a:t>
            </a:r>
            <a:endParaRPr lang="en-US" sz="1400" dirty="0"/>
          </a:p>
        </p:txBody>
      </p:sp>
      <p:sp>
        <p:nvSpPr>
          <p:cNvPr id="22" name="Text 20"/>
          <p:cNvSpPr txBox="1"/>
          <p:nvPr/>
        </p:nvSpPr>
        <p:spPr>
          <a:xfrm>
            <a:off x="8314182" y="2633472"/>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유리코 사이토의 돌봄 미학으로 본 정원하기</a:t>
            </a:r>
            <a:endParaRPr lang="en-US" sz="1150" dirty="0"/>
          </a:p>
        </p:txBody>
      </p:sp>
      <p:sp>
        <p:nvSpPr>
          <p:cNvPr id="23" name="lane-label"/>
          <p:cNvSpPr/>
          <p:nvPr/>
        </p:nvSpPr>
        <p:spPr>
          <a:xfrm>
            <a:off x="502920" y="3310128"/>
            <a:ext cx="1234440" cy="1389888"/>
          </a:xfrm>
          <a:prstGeom prst="roundRect">
            <a:avLst>
              <a:gd name="adj" fmla="val 5926"/>
            </a:avLst>
          </a:prstGeom>
          <a:solidFill>
            <a:schemeClr val="accent1"/>
          </a:solidFill>
          <a:ln/>
        </p:spPr>
      </p:sp>
      <p:sp>
        <p:nvSpPr>
          <p:cNvPr id="24" name="Text 22"/>
          <p:cNvSpPr txBox="1"/>
          <p:nvPr/>
        </p:nvSpPr>
        <p:spPr>
          <a:xfrm>
            <a:off x="594360" y="3310128"/>
            <a:ext cx="1051560" cy="1389888"/>
          </a:xfrm>
          <a:prstGeom prst="rect">
            <a:avLst/>
          </a:prstGeom>
          <a:noFill/>
          <a:ln/>
        </p:spPr>
        <p:txBody>
          <a:bodyPr wrap="square" lIns="0" tIns="0" rIns="0" bIns="0" rtlCol="0" anchor="ctr"/>
          <a:lstStyle/>
          <a:p>
            <a:pPr algn="ctr" indent="0" marL="0">
              <a:buNone/>
            </a:pPr>
            <a:r>
              <a:rPr lang="en-US" sz="1500" b="1" dirty="0">
                <a:solidFill>
                  <a:schemeClr val="bg1"/>
                </a:solidFill>
              </a:rPr>
              <a:t>실무·활동</a:t>
            </a:r>
            <a:endParaRPr lang="en-US" sz="1500" dirty="0"/>
          </a:p>
        </p:txBody>
      </p:sp>
      <p:sp>
        <p:nvSpPr>
          <p:cNvPr id="25" name="timeline-card"/>
          <p:cNvSpPr/>
          <p:nvPr/>
        </p:nvSpPr>
        <p:spPr>
          <a:xfrm>
            <a:off x="1874520" y="3310128"/>
            <a:ext cx="1981962" cy="1389888"/>
          </a:xfrm>
          <a:prstGeom prst="roundRect">
            <a:avLst>
              <a:gd name="adj" fmla="val 5263"/>
            </a:avLst>
          </a:prstGeom>
          <a:solidFill>
            <a:schemeClr val="bg2"/>
          </a:solidFill>
          <a:ln/>
        </p:spPr>
      </p:sp>
      <p:sp>
        <p:nvSpPr>
          <p:cNvPr id="26" name="Text 24"/>
          <p:cNvSpPr txBox="1"/>
          <p:nvPr/>
        </p:nvSpPr>
        <p:spPr>
          <a:xfrm>
            <a:off x="1984248" y="3401568"/>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2019.07–08</a:t>
            </a:r>
            <a:endParaRPr lang="en-US" sz="1250" dirty="0"/>
          </a:p>
        </p:txBody>
      </p:sp>
      <p:sp>
        <p:nvSpPr>
          <p:cNvPr id="27" name="Text 25"/>
          <p:cNvSpPr txBox="1"/>
          <p:nvPr/>
        </p:nvSpPr>
        <p:spPr>
          <a:xfrm>
            <a:off x="1984248" y="3675888"/>
            <a:ext cx="1762506" cy="457200"/>
          </a:xfrm>
          <a:prstGeom prst="rect">
            <a:avLst/>
          </a:prstGeom>
          <a:noFill/>
          <a:ln/>
        </p:spPr>
        <p:txBody>
          <a:bodyPr wrap="square" lIns="0" tIns="0" rIns="0" bIns="0" rtlCol="0" anchor="t"/>
          <a:lstStyle/>
          <a:p>
            <a:pPr indent="0" marL="0">
              <a:buNone/>
            </a:pPr>
            <a:r>
              <a:rPr lang="en-US" sz="1400" b="1" dirty="0">
                <a:solidFill>
                  <a:schemeClr val="tx1"/>
                </a:solidFill>
              </a:rPr>
              <a:t>Supernormal studio 인턴</a:t>
            </a:r>
            <a:endParaRPr lang="en-US" sz="1400" dirty="0"/>
          </a:p>
        </p:txBody>
      </p:sp>
      <p:sp>
        <p:nvSpPr>
          <p:cNvPr id="28" name="Text 26"/>
          <p:cNvSpPr txBox="1"/>
          <p:nvPr/>
        </p:nvSpPr>
        <p:spPr>
          <a:xfrm>
            <a:off x="1984248" y="4160520"/>
            <a:ext cx="1762506" cy="502920"/>
          </a:xfrm>
          <a:prstGeom prst="rect">
            <a:avLst/>
          </a:prstGeom>
          <a:noFill/>
          <a:ln/>
        </p:spPr>
        <p:txBody>
          <a:bodyPr wrap="square" lIns="0" tIns="0" rIns="0" bIns="0" rtlCol="0" anchor="t"/>
          <a:lstStyle/>
          <a:p>
            <a:pPr indent="0" marL="0">
              <a:buNone/>
            </a:pPr>
            <a:r>
              <a:rPr lang="en-US" sz="1150" dirty="0">
                <a:solidFill>
                  <a:schemeClr val="accent5"/>
                </a:solidFill>
              </a:rPr>
              <a:t>하계 인턴십 · 공간디자인 실무 경험</a:t>
            </a:r>
            <a:endParaRPr lang="en-US" sz="1150" dirty="0"/>
          </a:p>
        </p:txBody>
      </p:sp>
      <p:sp>
        <p:nvSpPr>
          <p:cNvPr id="29" name="timeline-card"/>
          <p:cNvSpPr/>
          <p:nvPr/>
        </p:nvSpPr>
        <p:spPr>
          <a:xfrm>
            <a:off x="3984498" y="3310128"/>
            <a:ext cx="1981962" cy="1389888"/>
          </a:xfrm>
          <a:prstGeom prst="roundRect">
            <a:avLst>
              <a:gd name="adj" fmla="val 5263"/>
            </a:avLst>
          </a:prstGeom>
          <a:solidFill>
            <a:schemeClr val="bg2"/>
          </a:solidFill>
          <a:ln/>
        </p:spPr>
      </p:sp>
      <p:sp>
        <p:nvSpPr>
          <p:cNvPr id="30" name="Text 28"/>
          <p:cNvSpPr txBox="1"/>
          <p:nvPr/>
        </p:nvSpPr>
        <p:spPr>
          <a:xfrm>
            <a:off x="4094226" y="3401568"/>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2022.04–12</a:t>
            </a:r>
            <a:endParaRPr lang="en-US" sz="1250" dirty="0"/>
          </a:p>
        </p:txBody>
      </p:sp>
      <p:sp>
        <p:nvSpPr>
          <p:cNvPr id="31" name="Text 29"/>
          <p:cNvSpPr txBox="1"/>
          <p:nvPr/>
        </p:nvSpPr>
        <p:spPr>
          <a:xfrm>
            <a:off x="4094226" y="3675888"/>
            <a:ext cx="1762506" cy="457200"/>
          </a:xfrm>
          <a:prstGeom prst="rect">
            <a:avLst/>
          </a:prstGeom>
          <a:noFill/>
          <a:ln/>
        </p:spPr>
        <p:txBody>
          <a:bodyPr wrap="square" lIns="0" tIns="0" rIns="0" bIns="0" rtlCol="0" anchor="t"/>
          <a:lstStyle/>
          <a:p>
            <a:pPr indent="0" marL="0">
              <a:buNone/>
            </a:pPr>
            <a:r>
              <a:rPr lang="en-US" sz="1400" b="1" dirty="0">
                <a:solidFill>
                  <a:schemeClr val="tx1"/>
                </a:solidFill>
              </a:rPr>
              <a:t>(사)한국정원협회 간사</a:t>
            </a:r>
            <a:endParaRPr lang="en-US" sz="1400" dirty="0"/>
          </a:p>
        </p:txBody>
      </p:sp>
      <p:sp>
        <p:nvSpPr>
          <p:cNvPr id="32" name="Text 30"/>
          <p:cNvSpPr txBox="1"/>
          <p:nvPr/>
        </p:nvSpPr>
        <p:spPr>
          <a:xfrm>
            <a:off x="4094226" y="4160520"/>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정원 관련 제도와 실천으로 관심 확대</a:t>
            </a:r>
            <a:endParaRPr lang="en-US" sz="1150" dirty="0"/>
          </a:p>
        </p:txBody>
      </p:sp>
      <p:sp>
        <p:nvSpPr>
          <p:cNvPr id="33" name="timeline-card"/>
          <p:cNvSpPr/>
          <p:nvPr/>
        </p:nvSpPr>
        <p:spPr>
          <a:xfrm>
            <a:off x="6094476" y="3310128"/>
            <a:ext cx="1981962" cy="1389888"/>
          </a:xfrm>
          <a:prstGeom prst="roundRect">
            <a:avLst>
              <a:gd name="adj" fmla="val 5263"/>
            </a:avLst>
          </a:prstGeom>
          <a:solidFill>
            <a:schemeClr val="bg2"/>
          </a:solidFill>
          <a:ln/>
        </p:spPr>
      </p:sp>
      <p:sp>
        <p:nvSpPr>
          <p:cNvPr id="34" name="Text 32"/>
          <p:cNvSpPr txBox="1"/>
          <p:nvPr/>
        </p:nvSpPr>
        <p:spPr>
          <a:xfrm>
            <a:off x="6204204" y="3401568"/>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현재</a:t>
            </a:r>
            <a:endParaRPr lang="en-US" sz="1250" dirty="0"/>
          </a:p>
        </p:txBody>
      </p:sp>
      <p:sp>
        <p:nvSpPr>
          <p:cNvPr id="35" name="Text 33"/>
          <p:cNvSpPr txBox="1"/>
          <p:nvPr/>
        </p:nvSpPr>
        <p:spPr>
          <a:xfrm>
            <a:off x="6204204" y="3675888"/>
            <a:ext cx="1762506" cy="457200"/>
          </a:xfrm>
          <a:prstGeom prst="rect">
            <a:avLst/>
          </a:prstGeom>
          <a:noFill/>
          <a:ln/>
        </p:spPr>
        <p:txBody>
          <a:bodyPr wrap="square" lIns="0" tIns="0" rIns="0" bIns="0" rtlCol="0" anchor="t"/>
          <a:lstStyle/>
          <a:p>
            <a:pPr indent="0" marL="0">
              <a:buNone/>
            </a:pPr>
            <a:r>
              <a:rPr lang="en-US" sz="1400" b="1" dirty="0">
                <a:solidFill>
                  <a:schemeClr val="tx1"/>
                </a:solidFill>
              </a:rPr>
              <a:t>서울가드닝클럽</a:t>
            </a:r>
            <a:endParaRPr lang="en-US" sz="1400" dirty="0"/>
          </a:p>
        </p:txBody>
      </p:sp>
      <p:sp>
        <p:nvSpPr>
          <p:cNvPr id="36" name="Text 34"/>
          <p:cNvSpPr txBox="1"/>
          <p:nvPr/>
        </p:nvSpPr>
        <p:spPr>
          <a:xfrm>
            <a:off x="6204204" y="4160520"/>
            <a:ext cx="1762506" cy="502920"/>
          </a:xfrm>
          <a:prstGeom prst="rect">
            <a:avLst/>
          </a:prstGeom>
          <a:noFill/>
          <a:ln/>
        </p:spPr>
        <p:txBody>
          <a:bodyPr wrap="square" lIns="0" tIns="0" rIns="0" bIns="0" rtlCol="0" anchor="t"/>
          <a:lstStyle/>
          <a:p>
            <a:pPr indent="0" marL="0">
              <a:buNone/>
            </a:pPr>
            <a:r>
              <a:rPr lang="en-US" sz="1150" dirty="0">
                <a:solidFill>
                  <a:schemeClr val="accent5"/>
                </a:solidFill>
              </a:rPr>
              <a:t>공유정원 운영 · 프로그램 기획 · 사례 조사</a:t>
            </a:r>
            <a:endParaRPr lang="en-US" sz="1150" dirty="0"/>
          </a:p>
        </p:txBody>
      </p:sp>
      <p:sp>
        <p:nvSpPr>
          <p:cNvPr id="37" name="timeline-card"/>
          <p:cNvSpPr/>
          <p:nvPr/>
        </p:nvSpPr>
        <p:spPr>
          <a:xfrm>
            <a:off x="8204454" y="3310128"/>
            <a:ext cx="1981962" cy="1389888"/>
          </a:xfrm>
          <a:prstGeom prst="roundRect">
            <a:avLst>
              <a:gd name="adj" fmla="val 5263"/>
            </a:avLst>
          </a:prstGeom>
          <a:solidFill>
            <a:schemeClr val="tx2"/>
          </a:solidFill>
          <a:ln/>
        </p:spPr>
      </p:sp>
      <p:sp>
        <p:nvSpPr>
          <p:cNvPr id="38" name="Text 36"/>
          <p:cNvSpPr txBox="1"/>
          <p:nvPr/>
        </p:nvSpPr>
        <p:spPr>
          <a:xfrm>
            <a:off x="8314182" y="3401568"/>
            <a:ext cx="1762506" cy="237744"/>
          </a:xfrm>
          <a:prstGeom prst="rect">
            <a:avLst/>
          </a:prstGeom>
          <a:noFill/>
          <a:ln/>
        </p:spPr>
        <p:txBody>
          <a:bodyPr wrap="square" lIns="0" tIns="0" rIns="0" bIns="0" rtlCol="0" anchor="t"/>
          <a:lstStyle/>
          <a:p>
            <a:pPr indent="0" marL="0">
              <a:buNone/>
            </a:pPr>
            <a:r>
              <a:rPr lang="en-US" sz="1250" b="1" dirty="0">
                <a:solidFill>
                  <a:schemeClr val="accent2"/>
                </a:solidFill>
              </a:rPr>
              <a:t>NEXT</a:t>
            </a:r>
            <a:endParaRPr lang="en-US" sz="1250" dirty="0"/>
          </a:p>
        </p:txBody>
      </p:sp>
      <p:sp>
        <p:nvSpPr>
          <p:cNvPr id="39" name="Text 37"/>
          <p:cNvSpPr txBox="1"/>
          <p:nvPr/>
        </p:nvSpPr>
        <p:spPr>
          <a:xfrm>
            <a:off x="8314182" y="3675888"/>
            <a:ext cx="1762506" cy="457200"/>
          </a:xfrm>
          <a:prstGeom prst="rect">
            <a:avLst/>
          </a:prstGeom>
          <a:noFill/>
          <a:ln/>
        </p:spPr>
        <p:txBody>
          <a:bodyPr wrap="square" lIns="0" tIns="0" rIns="0" bIns="0" rtlCol="0" anchor="t"/>
          <a:lstStyle/>
          <a:p>
            <a:pPr indent="0" marL="0">
              <a:buNone/>
            </a:pPr>
            <a:r>
              <a:rPr lang="en-US" sz="1400" b="1" dirty="0">
                <a:solidFill>
                  <a:schemeClr val="bg1"/>
                </a:solidFill>
              </a:rPr>
              <a:t>박사과정 조경학전공</a:t>
            </a:r>
            <a:endParaRPr lang="en-US" sz="1400" dirty="0"/>
          </a:p>
        </p:txBody>
      </p:sp>
      <p:sp>
        <p:nvSpPr>
          <p:cNvPr id="40" name="Text 38"/>
          <p:cNvSpPr txBox="1"/>
          <p:nvPr/>
        </p:nvSpPr>
        <p:spPr>
          <a:xfrm>
            <a:off x="8314182" y="4160520"/>
            <a:ext cx="1762506" cy="502920"/>
          </a:xfrm>
          <a:prstGeom prst="rect">
            <a:avLst/>
          </a:prstGeom>
          <a:noFill/>
          <a:ln/>
        </p:spPr>
        <p:txBody>
          <a:bodyPr wrap="square" lIns="0" tIns="0" rIns="0" bIns="0" rtlCol="0" anchor="t"/>
          <a:lstStyle/>
          <a:p>
            <a:pPr indent="0" marL="0">
              <a:buNone/>
            </a:pPr>
            <a:r>
              <a:rPr lang="en-US" sz="1150" dirty="0">
                <a:solidFill>
                  <a:schemeClr val="accent6"/>
                </a:solidFill>
              </a:rPr>
              <a:t>정원 조성 이후의 돌봄 연구</a:t>
            </a:r>
            <a:endParaRPr lang="en-US" sz="1150" dirty="0"/>
          </a:p>
        </p:txBody>
      </p:sp>
      <p:sp>
        <p:nvSpPr>
          <p:cNvPr id="41" name="lane-label"/>
          <p:cNvSpPr/>
          <p:nvPr/>
        </p:nvSpPr>
        <p:spPr>
          <a:xfrm>
            <a:off x="502920" y="4837176"/>
            <a:ext cx="1234440" cy="1389888"/>
          </a:xfrm>
          <a:prstGeom prst="roundRect">
            <a:avLst>
              <a:gd name="adj" fmla="val 5926"/>
            </a:avLst>
          </a:prstGeom>
          <a:solidFill>
            <a:schemeClr val="accent1"/>
          </a:solidFill>
          <a:ln/>
        </p:spPr>
      </p:sp>
      <p:sp>
        <p:nvSpPr>
          <p:cNvPr id="42" name="Text 40"/>
          <p:cNvSpPr txBox="1"/>
          <p:nvPr/>
        </p:nvSpPr>
        <p:spPr>
          <a:xfrm>
            <a:off x="594360" y="4837176"/>
            <a:ext cx="1051560" cy="1389888"/>
          </a:xfrm>
          <a:prstGeom prst="rect">
            <a:avLst/>
          </a:prstGeom>
          <a:noFill/>
          <a:ln/>
        </p:spPr>
        <p:txBody>
          <a:bodyPr wrap="square" lIns="0" tIns="0" rIns="0" bIns="0" rtlCol="0" anchor="ctr"/>
          <a:lstStyle/>
          <a:p>
            <a:pPr algn="ctr" indent="0" marL="0">
              <a:buNone/>
            </a:pPr>
            <a:r>
              <a:rPr lang="en-US" sz="1500" b="1" dirty="0">
                <a:solidFill>
                  <a:schemeClr val="bg1"/>
                </a:solidFill>
              </a:rPr>
              <a:t>공원 참여·연구과제</a:t>
            </a:r>
            <a:endParaRPr lang="en-US" sz="1500" dirty="0"/>
          </a:p>
        </p:txBody>
      </p:sp>
      <p:sp>
        <p:nvSpPr>
          <p:cNvPr id="43" name="timeline-card"/>
          <p:cNvSpPr/>
          <p:nvPr/>
        </p:nvSpPr>
        <p:spPr>
          <a:xfrm>
            <a:off x="1874520" y="4837176"/>
            <a:ext cx="1981962" cy="1389888"/>
          </a:xfrm>
          <a:prstGeom prst="roundRect">
            <a:avLst>
              <a:gd name="adj" fmla="val 5263"/>
            </a:avLst>
          </a:prstGeom>
          <a:solidFill>
            <a:schemeClr val="bg2"/>
          </a:solidFill>
          <a:ln/>
        </p:spPr>
      </p:sp>
      <p:sp>
        <p:nvSpPr>
          <p:cNvPr id="44" name="Text 42"/>
          <p:cNvSpPr txBox="1"/>
          <p:nvPr/>
        </p:nvSpPr>
        <p:spPr>
          <a:xfrm>
            <a:off x="1984248" y="4928616"/>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2021</a:t>
            </a:r>
            <a:endParaRPr lang="en-US" sz="1250" dirty="0"/>
          </a:p>
        </p:txBody>
      </p:sp>
      <p:sp>
        <p:nvSpPr>
          <p:cNvPr id="45" name="Text 43"/>
          <p:cNvSpPr txBox="1"/>
          <p:nvPr/>
        </p:nvSpPr>
        <p:spPr>
          <a:xfrm>
            <a:off x="1984248" y="5202936"/>
            <a:ext cx="1762506" cy="457200"/>
          </a:xfrm>
          <a:prstGeom prst="rect">
            <a:avLst/>
          </a:prstGeom>
          <a:noFill/>
          <a:ln/>
        </p:spPr>
        <p:txBody>
          <a:bodyPr wrap="square" lIns="0" tIns="0" rIns="0" bIns="0" rtlCol="0" anchor="t"/>
          <a:lstStyle/>
          <a:p>
            <a:pPr indent="0" marL="0">
              <a:buNone/>
            </a:pPr>
            <a:r>
              <a:rPr lang="en-US" sz="1400" b="1" dirty="0">
                <a:solidFill>
                  <a:schemeClr val="tx1"/>
                </a:solidFill>
              </a:rPr>
              <a:t>용산공원 국민참여단</a:t>
            </a:r>
            <a:endParaRPr lang="en-US" sz="1400" dirty="0"/>
          </a:p>
        </p:txBody>
      </p:sp>
      <p:sp>
        <p:nvSpPr>
          <p:cNvPr id="46" name="Text 44"/>
          <p:cNvSpPr txBox="1"/>
          <p:nvPr/>
        </p:nvSpPr>
        <p:spPr>
          <a:xfrm>
            <a:off x="1984248" y="5687568"/>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청년 실천형 자문위원으로 입구 정원 조성 참여</a:t>
            </a:r>
            <a:endParaRPr lang="en-US" sz="1150" dirty="0"/>
          </a:p>
        </p:txBody>
      </p:sp>
      <p:sp>
        <p:nvSpPr>
          <p:cNvPr id="47" name="timeline-card"/>
          <p:cNvSpPr/>
          <p:nvPr/>
        </p:nvSpPr>
        <p:spPr>
          <a:xfrm>
            <a:off x="3984498" y="4837176"/>
            <a:ext cx="1981962" cy="1389888"/>
          </a:xfrm>
          <a:prstGeom prst="roundRect">
            <a:avLst>
              <a:gd name="adj" fmla="val 5263"/>
            </a:avLst>
          </a:prstGeom>
          <a:solidFill>
            <a:schemeClr val="bg2"/>
          </a:solidFill>
          <a:ln/>
        </p:spPr>
      </p:sp>
      <p:sp>
        <p:nvSpPr>
          <p:cNvPr id="48" name="Text 46"/>
          <p:cNvSpPr txBox="1"/>
          <p:nvPr/>
        </p:nvSpPr>
        <p:spPr>
          <a:xfrm>
            <a:off x="4094226" y="4928616"/>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2021.06–10</a:t>
            </a:r>
            <a:endParaRPr lang="en-US" sz="1250" dirty="0"/>
          </a:p>
        </p:txBody>
      </p:sp>
      <p:sp>
        <p:nvSpPr>
          <p:cNvPr id="49" name="Text 47"/>
          <p:cNvSpPr txBox="1"/>
          <p:nvPr/>
        </p:nvSpPr>
        <p:spPr>
          <a:xfrm>
            <a:off x="4094226" y="5202936"/>
            <a:ext cx="1762506" cy="457200"/>
          </a:xfrm>
          <a:prstGeom prst="rect">
            <a:avLst/>
          </a:prstGeom>
          <a:noFill/>
          <a:ln/>
        </p:spPr>
        <p:txBody>
          <a:bodyPr wrap="square" lIns="0" tIns="0" rIns="0" bIns="0" rtlCol="0" anchor="t"/>
          <a:lstStyle/>
          <a:p>
            <a:pPr indent="0" marL="0">
              <a:buNone/>
            </a:pPr>
            <a:r>
              <a:rPr lang="en-US" sz="1400" b="1" dirty="0">
                <a:solidFill>
                  <a:schemeClr val="tx1"/>
                </a:solidFill>
              </a:rPr>
              <a:t>부분반환부지 활용방안 연구</a:t>
            </a:r>
            <a:endParaRPr lang="en-US" sz="1400" dirty="0"/>
          </a:p>
        </p:txBody>
      </p:sp>
      <p:sp>
        <p:nvSpPr>
          <p:cNvPr id="50" name="Text 48"/>
          <p:cNvSpPr txBox="1"/>
          <p:nvPr/>
        </p:nvSpPr>
        <p:spPr>
          <a:xfrm>
            <a:off x="4094226" y="5687568"/>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용산기지 내 · 자료조사·분석, 보고서 디자인</a:t>
            </a:r>
            <a:endParaRPr lang="en-US" sz="1150" dirty="0"/>
          </a:p>
        </p:txBody>
      </p:sp>
      <p:sp>
        <p:nvSpPr>
          <p:cNvPr id="51" name="timeline-card"/>
          <p:cNvSpPr/>
          <p:nvPr/>
        </p:nvSpPr>
        <p:spPr>
          <a:xfrm>
            <a:off x="6094476" y="4837176"/>
            <a:ext cx="1981962" cy="1389888"/>
          </a:xfrm>
          <a:prstGeom prst="roundRect">
            <a:avLst>
              <a:gd name="adj" fmla="val 5263"/>
            </a:avLst>
          </a:prstGeom>
          <a:solidFill>
            <a:schemeClr val="bg2"/>
          </a:solidFill>
          <a:ln/>
        </p:spPr>
      </p:sp>
      <p:sp>
        <p:nvSpPr>
          <p:cNvPr id="52" name="Text 50"/>
          <p:cNvSpPr txBox="1"/>
          <p:nvPr/>
        </p:nvSpPr>
        <p:spPr>
          <a:xfrm>
            <a:off x="6204204" y="4928616"/>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2022.06–10</a:t>
            </a:r>
            <a:endParaRPr lang="en-US" sz="1250" dirty="0"/>
          </a:p>
        </p:txBody>
      </p:sp>
      <p:sp>
        <p:nvSpPr>
          <p:cNvPr id="53" name="Text 51"/>
          <p:cNvSpPr txBox="1"/>
          <p:nvPr/>
        </p:nvSpPr>
        <p:spPr>
          <a:xfrm>
            <a:off x="6204204" y="5202936"/>
            <a:ext cx="1762506" cy="457200"/>
          </a:xfrm>
          <a:prstGeom prst="rect">
            <a:avLst/>
          </a:prstGeom>
          <a:noFill/>
          <a:ln/>
        </p:spPr>
        <p:txBody>
          <a:bodyPr wrap="square" lIns="0" tIns="0" rIns="0" bIns="0" rtlCol="0" anchor="t"/>
          <a:lstStyle/>
          <a:p>
            <a:pPr indent="0" marL="0">
              <a:buNone/>
            </a:pPr>
            <a:r>
              <a:rPr lang="en-US" sz="1400" b="1" dirty="0">
                <a:solidFill>
                  <a:schemeClr val="tx1"/>
                </a:solidFill>
              </a:rPr>
              <a:t>민간정원 등록 매뉴얼 개발 연구</a:t>
            </a:r>
            <a:endParaRPr lang="en-US" sz="1400" dirty="0"/>
          </a:p>
        </p:txBody>
      </p:sp>
      <p:sp>
        <p:nvSpPr>
          <p:cNvPr id="54" name="Text 52"/>
          <p:cNvSpPr txBox="1"/>
          <p:nvPr/>
        </p:nvSpPr>
        <p:spPr>
          <a:xfrm>
            <a:off x="6204204" y="5687568"/>
            <a:ext cx="1762506" cy="502920"/>
          </a:xfrm>
          <a:prstGeom prst="rect">
            <a:avLst/>
          </a:prstGeom>
          <a:noFill/>
          <a:ln/>
        </p:spPr>
        <p:txBody>
          <a:bodyPr wrap="square" lIns="0" tIns="0" rIns="0" bIns="0" rtlCol="0" anchor="t"/>
          <a:lstStyle/>
          <a:p>
            <a:pPr indent="0" marL="0">
              <a:buNone/>
            </a:pPr>
            <a:r>
              <a:rPr lang="en-US" sz="1150" dirty="0">
                <a:solidFill>
                  <a:schemeClr val="accent5"/>
                </a:solidFill>
              </a:rPr>
              <a:t>등록 기준·절차 조사 참여, 매뉴얼 디자인·편집</a:t>
            </a:r>
            <a:endParaRPr lang="en-US" sz="1150" dirty="0"/>
          </a:p>
        </p:txBody>
      </p:sp>
      <p:sp>
        <p:nvSpPr>
          <p:cNvPr id="55" name="timeline-card"/>
          <p:cNvSpPr/>
          <p:nvPr/>
        </p:nvSpPr>
        <p:spPr>
          <a:xfrm>
            <a:off x="8204454" y="4837176"/>
            <a:ext cx="1981962" cy="1389888"/>
          </a:xfrm>
          <a:prstGeom prst="roundRect">
            <a:avLst>
              <a:gd name="adj" fmla="val 5263"/>
            </a:avLst>
          </a:prstGeom>
          <a:solidFill>
            <a:schemeClr val="bg2"/>
          </a:solidFill>
          <a:ln/>
        </p:spPr>
      </p:sp>
      <p:sp>
        <p:nvSpPr>
          <p:cNvPr id="56" name="Text 54"/>
          <p:cNvSpPr txBox="1"/>
          <p:nvPr/>
        </p:nvSpPr>
        <p:spPr>
          <a:xfrm>
            <a:off x="8314182" y="4928616"/>
            <a:ext cx="1762506" cy="237744"/>
          </a:xfrm>
          <a:prstGeom prst="rect">
            <a:avLst/>
          </a:prstGeom>
          <a:noFill/>
          <a:ln/>
        </p:spPr>
        <p:txBody>
          <a:bodyPr wrap="square" lIns="0" tIns="0" rIns="0" bIns="0" rtlCol="0" anchor="t"/>
          <a:lstStyle/>
          <a:p>
            <a:pPr indent="0" marL="0">
              <a:buNone/>
            </a:pPr>
            <a:r>
              <a:rPr lang="en-US" sz="1250" b="1" dirty="0">
                <a:solidFill>
                  <a:schemeClr val="accent1"/>
                </a:solidFill>
              </a:rPr>
              <a:t>2023.05–11</a:t>
            </a:r>
            <a:endParaRPr lang="en-US" sz="1250" dirty="0"/>
          </a:p>
        </p:txBody>
      </p:sp>
      <p:sp>
        <p:nvSpPr>
          <p:cNvPr id="57" name="Text 55"/>
          <p:cNvSpPr txBox="1"/>
          <p:nvPr/>
        </p:nvSpPr>
        <p:spPr>
          <a:xfrm>
            <a:off x="8314182" y="5202936"/>
            <a:ext cx="1762506" cy="457200"/>
          </a:xfrm>
          <a:prstGeom prst="rect">
            <a:avLst/>
          </a:prstGeom>
          <a:noFill/>
          <a:ln/>
        </p:spPr>
        <p:txBody>
          <a:bodyPr wrap="square" lIns="0" tIns="0" rIns="0" bIns="0" rtlCol="0" anchor="t"/>
          <a:lstStyle/>
          <a:p>
            <a:pPr indent="0" marL="0">
              <a:buNone/>
            </a:pPr>
            <a:r>
              <a:rPr lang="en-US" sz="1400" b="1" dirty="0">
                <a:solidFill>
                  <a:schemeClr val="tx1"/>
                </a:solidFill>
              </a:rPr>
              <a:t>자생식물 소재산업 수요창출 방안</a:t>
            </a:r>
            <a:endParaRPr lang="en-US" sz="1400" dirty="0"/>
          </a:p>
        </p:txBody>
      </p:sp>
      <p:sp>
        <p:nvSpPr>
          <p:cNvPr id="58" name="Text 56"/>
          <p:cNvSpPr txBox="1"/>
          <p:nvPr/>
        </p:nvSpPr>
        <p:spPr>
          <a:xfrm>
            <a:off x="8314182" y="5687568"/>
            <a:ext cx="1762506" cy="502920"/>
          </a:xfrm>
          <a:prstGeom prst="rect">
            <a:avLst/>
          </a:prstGeom>
          <a:noFill/>
          <a:ln/>
        </p:spPr>
        <p:txBody>
          <a:bodyPr wrap="square" lIns="0" tIns="0" rIns="0" bIns="0" rtlCol="0" anchor="t"/>
          <a:lstStyle/>
          <a:p>
            <a:pPr indent="0" marL="0">
              <a:buNone/>
            </a:pPr>
            <a:r>
              <a:rPr lang="en-US" sz="1150" dirty="0">
                <a:solidFill>
                  <a:schemeClr val="accent5"/>
                </a:solidFill>
              </a:rPr>
              <a:t>자료 정리·편집, 국내외 제도와 사례 검토</a:t>
            </a:r>
            <a:endParaRPr lang="en-US" sz="1150" dirty="0"/>
          </a:p>
        </p:txBody>
      </p:sp>
      <p:sp>
        <p:nvSpPr>
          <p:cNvPr id="59" name="callout"/>
          <p:cNvSpPr/>
          <p:nvPr/>
        </p:nvSpPr>
        <p:spPr>
          <a:xfrm>
            <a:off x="502920" y="6355080"/>
            <a:ext cx="9683496" cy="530352"/>
          </a:xfrm>
          <a:prstGeom prst="roundRect">
            <a:avLst>
              <a:gd name="adj" fmla="val 13793"/>
            </a:avLst>
          </a:prstGeom>
          <a:solidFill>
            <a:schemeClr val="accent3"/>
          </a:solidFill>
          <a:ln/>
        </p:spPr>
      </p:sp>
      <p:sp>
        <p:nvSpPr>
          <p:cNvPr id="60" name="Text 58"/>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설계에서 출발해 참여와 운영, 이론을 거치며 관심이 ‘정원의 지속’으로 모였습니다</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상벌사항과 성과</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02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수상과 학술발표, 설계 작업으로</a:t>
            </a:r>
            <a:endParaRPr lang="en-US" sz="2500" dirty="0"/>
          </a:p>
          <a:p>
            <a:pPr algn="ctr" indent="0" marL="0">
              <a:buNone/>
            </a:pPr>
            <a:r>
              <a:rPr lang="en-US" sz="2500" b="1" dirty="0">
                <a:solidFill>
                  <a:schemeClr val="tx1"/>
                </a:solidFill>
              </a:rPr>
              <a:t>공간·참여·이론을 함께 다져 왔습니다</a:t>
            </a:r>
            <a:endParaRPr lang="en-US" sz="2500" dirty="0"/>
          </a:p>
        </p:txBody>
      </p:sp>
      <p:sp>
        <p:nvSpPr>
          <p:cNvPr id="5" name="panel"/>
          <p:cNvSpPr/>
          <p:nvPr/>
        </p:nvSpPr>
        <p:spPr>
          <a:xfrm>
            <a:off x="502920" y="1783080"/>
            <a:ext cx="3566160" cy="2240280"/>
          </a:xfrm>
          <a:prstGeom prst="roundRect">
            <a:avLst>
              <a:gd name="adj" fmla="val 3265"/>
            </a:avLst>
          </a:prstGeom>
          <a:solidFill>
            <a:schemeClr val="bg2"/>
          </a:solidFill>
          <a:ln/>
        </p:spPr>
      </p:sp>
      <p:sp>
        <p:nvSpPr>
          <p:cNvPr id="6" name="chip"/>
          <p:cNvSpPr/>
          <p:nvPr/>
        </p:nvSpPr>
        <p:spPr>
          <a:xfrm>
            <a:off x="685800" y="1938528"/>
            <a:ext cx="1280160" cy="347472"/>
          </a:xfrm>
          <a:prstGeom prst="roundRect">
            <a:avLst>
              <a:gd name="adj" fmla="val 21053"/>
            </a:avLst>
          </a:prstGeom>
          <a:solidFill>
            <a:schemeClr val="accent1"/>
          </a:solidFill>
          <a:ln/>
        </p:spPr>
      </p:sp>
      <p:sp>
        <p:nvSpPr>
          <p:cNvPr id="7" name="Text 5"/>
          <p:cNvSpPr txBox="1"/>
          <p:nvPr/>
        </p:nvSpPr>
        <p:spPr>
          <a:xfrm>
            <a:off x="685800" y="1938528"/>
            <a:ext cx="1280160" cy="347472"/>
          </a:xfrm>
          <a:prstGeom prst="rect">
            <a:avLst/>
          </a:prstGeom>
          <a:noFill/>
          <a:ln/>
        </p:spPr>
        <p:txBody>
          <a:bodyPr wrap="square" lIns="0" tIns="0" rIns="0" bIns="0" rtlCol="0" anchor="ctr"/>
          <a:lstStyle/>
          <a:p>
            <a:pPr algn="ctr" indent="0" marL="0">
              <a:buNone/>
            </a:pPr>
            <a:r>
              <a:rPr lang="en-US" sz="1400" b="1" dirty="0">
                <a:solidFill>
                  <a:schemeClr val="bg1"/>
                </a:solidFill>
              </a:rPr>
              <a:t>상벌사항</a:t>
            </a:r>
            <a:endParaRPr lang="en-US" sz="1400" dirty="0"/>
          </a:p>
        </p:txBody>
      </p:sp>
      <p:sp>
        <p:nvSpPr>
          <p:cNvPr id="8" name="Text 6"/>
          <p:cNvSpPr txBox="1"/>
          <p:nvPr/>
        </p:nvSpPr>
        <p:spPr>
          <a:xfrm>
            <a:off x="685800" y="2487168"/>
            <a:ext cx="1188720" cy="594360"/>
          </a:xfrm>
          <a:prstGeom prst="rect">
            <a:avLst/>
          </a:prstGeom>
          <a:noFill/>
          <a:ln/>
        </p:spPr>
        <p:txBody>
          <a:bodyPr wrap="square" lIns="0" tIns="0" rIns="0" bIns="0" rtlCol="0" anchor="ctr"/>
          <a:lstStyle/>
          <a:p>
            <a:pPr indent="0" marL="0">
              <a:buNone/>
            </a:pPr>
            <a:r>
              <a:rPr lang="en-US" sz="2200" b="1" dirty="0">
                <a:solidFill>
                  <a:schemeClr val="accent1"/>
                </a:solidFill>
              </a:rPr>
              <a:t>2019.10</a:t>
            </a:r>
            <a:endParaRPr lang="en-US" sz="2200" dirty="0"/>
          </a:p>
        </p:txBody>
      </p:sp>
      <p:sp>
        <p:nvSpPr>
          <p:cNvPr id="9" name="Text 7"/>
          <p:cNvSpPr txBox="1"/>
          <p:nvPr/>
        </p:nvSpPr>
        <p:spPr>
          <a:xfrm>
            <a:off x="1965960" y="2487168"/>
            <a:ext cx="2011680" cy="594360"/>
          </a:xfrm>
          <a:prstGeom prst="rect">
            <a:avLst/>
          </a:prstGeom>
          <a:noFill/>
          <a:ln/>
        </p:spPr>
        <p:txBody>
          <a:bodyPr wrap="square" lIns="0" tIns="0" rIns="0" bIns="0" rtlCol="0" anchor="ctr"/>
          <a:lstStyle/>
          <a:p>
            <a:pPr indent="0" marL="0">
              <a:buNone/>
            </a:pPr>
            <a:r>
              <a:rPr lang="en-US" sz="1450" b="1" dirty="0">
                <a:solidFill>
                  <a:schemeClr val="tx1"/>
                </a:solidFill>
              </a:rPr>
              <a:t>교내전시회</a:t>
            </a:r>
            <a:endParaRPr lang="en-US" sz="1450" dirty="0"/>
          </a:p>
          <a:p>
            <a:pPr indent="0" marL="0">
              <a:buNone/>
            </a:pPr>
            <a:r>
              <a:rPr lang="en-US" sz="1450" b="1" dirty="0">
                <a:solidFill>
                  <a:schemeClr val="tx1"/>
                </a:solidFill>
              </a:rPr>
              <a:t>「smart play」 수상</a:t>
            </a:r>
            <a:endParaRPr lang="en-US" sz="1450" dirty="0"/>
          </a:p>
        </p:txBody>
      </p:sp>
      <p:sp>
        <p:nvSpPr>
          <p:cNvPr id="10" name="Text 8"/>
          <p:cNvSpPr txBox="1"/>
          <p:nvPr/>
        </p:nvSpPr>
        <p:spPr>
          <a:xfrm>
            <a:off x="685800" y="3236976"/>
            <a:ext cx="1188720" cy="594360"/>
          </a:xfrm>
          <a:prstGeom prst="rect">
            <a:avLst/>
          </a:prstGeom>
          <a:noFill/>
          <a:ln/>
        </p:spPr>
        <p:txBody>
          <a:bodyPr wrap="square" lIns="0" tIns="0" rIns="0" bIns="0" rtlCol="0" anchor="ctr"/>
          <a:lstStyle/>
          <a:p>
            <a:pPr indent="0" marL="0">
              <a:buNone/>
            </a:pPr>
            <a:r>
              <a:rPr lang="en-US" sz="2200" b="1" dirty="0">
                <a:solidFill>
                  <a:schemeClr val="accent1"/>
                </a:solidFill>
              </a:rPr>
              <a:t>2021.06</a:t>
            </a:r>
            <a:endParaRPr lang="en-US" sz="2200" dirty="0"/>
          </a:p>
        </p:txBody>
      </p:sp>
      <p:sp>
        <p:nvSpPr>
          <p:cNvPr id="11" name="Text 9"/>
          <p:cNvSpPr txBox="1"/>
          <p:nvPr/>
        </p:nvSpPr>
        <p:spPr>
          <a:xfrm>
            <a:off x="1965960" y="3236976"/>
            <a:ext cx="2011680" cy="594360"/>
          </a:xfrm>
          <a:prstGeom prst="rect">
            <a:avLst/>
          </a:prstGeom>
          <a:noFill/>
          <a:ln/>
        </p:spPr>
        <p:txBody>
          <a:bodyPr wrap="square" lIns="0" tIns="0" rIns="0" bIns="0" rtlCol="0" anchor="ctr"/>
          <a:lstStyle/>
          <a:p>
            <a:pPr indent="0" marL="0">
              <a:buNone/>
            </a:pPr>
            <a:r>
              <a:rPr lang="en-US" sz="1450" b="1" dirty="0">
                <a:solidFill>
                  <a:schemeClr val="tx1"/>
                </a:solidFill>
              </a:rPr>
              <a:t>용산공원 국민참여단</a:t>
            </a:r>
            <a:endParaRPr lang="en-US" sz="1450" dirty="0"/>
          </a:p>
          <a:p>
            <a:pPr indent="0" marL="0">
              <a:buNone/>
            </a:pPr>
            <a:r>
              <a:rPr lang="en-US" sz="1450" b="1" dirty="0">
                <a:solidFill>
                  <a:schemeClr val="tx1"/>
                </a:solidFill>
              </a:rPr>
              <a:t>우수상 수상</a:t>
            </a:r>
            <a:endParaRPr lang="en-US" sz="1450" dirty="0"/>
          </a:p>
        </p:txBody>
      </p:sp>
      <p:sp>
        <p:nvSpPr>
          <p:cNvPr id="12" name="panel"/>
          <p:cNvSpPr/>
          <p:nvPr/>
        </p:nvSpPr>
        <p:spPr>
          <a:xfrm>
            <a:off x="4251960" y="1783080"/>
            <a:ext cx="5934456" cy="2240280"/>
          </a:xfrm>
          <a:prstGeom prst="roundRect">
            <a:avLst>
              <a:gd name="adj" fmla="val 3265"/>
            </a:avLst>
          </a:prstGeom>
          <a:solidFill>
            <a:schemeClr val="bg2"/>
          </a:solidFill>
          <a:ln/>
        </p:spPr>
      </p:sp>
      <p:sp>
        <p:nvSpPr>
          <p:cNvPr id="13" name="chip"/>
          <p:cNvSpPr/>
          <p:nvPr/>
        </p:nvSpPr>
        <p:spPr>
          <a:xfrm>
            <a:off x="4434840" y="1938528"/>
            <a:ext cx="1280160" cy="347472"/>
          </a:xfrm>
          <a:prstGeom prst="roundRect">
            <a:avLst>
              <a:gd name="adj" fmla="val 21053"/>
            </a:avLst>
          </a:prstGeom>
          <a:solidFill>
            <a:schemeClr val="accent1"/>
          </a:solidFill>
          <a:ln/>
        </p:spPr>
      </p:sp>
      <p:sp>
        <p:nvSpPr>
          <p:cNvPr id="14" name="Text 12"/>
          <p:cNvSpPr txBox="1"/>
          <p:nvPr/>
        </p:nvSpPr>
        <p:spPr>
          <a:xfrm>
            <a:off x="4434840" y="1938528"/>
            <a:ext cx="1280160" cy="347472"/>
          </a:xfrm>
          <a:prstGeom prst="rect">
            <a:avLst/>
          </a:prstGeom>
          <a:noFill/>
          <a:ln/>
        </p:spPr>
        <p:txBody>
          <a:bodyPr wrap="square" lIns="0" tIns="0" rIns="0" bIns="0" rtlCol="0" anchor="ctr"/>
          <a:lstStyle/>
          <a:p>
            <a:pPr algn="ctr" indent="0" marL="0">
              <a:buNone/>
            </a:pPr>
            <a:r>
              <a:rPr lang="en-US" sz="1400" b="1" dirty="0">
                <a:solidFill>
                  <a:schemeClr val="bg1"/>
                </a:solidFill>
              </a:rPr>
              <a:t>학술 성과</a:t>
            </a:r>
            <a:endParaRPr lang="en-US" sz="1400" dirty="0"/>
          </a:p>
        </p:txBody>
      </p:sp>
      <p:sp>
        <p:nvSpPr>
          <p:cNvPr id="15" name="Text 13"/>
          <p:cNvSpPr txBox="1"/>
          <p:nvPr/>
        </p:nvSpPr>
        <p:spPr>
          <a:xfrm>
            <a:off x="4434840" y="2423160"/>
            <a:ext cx="914400" cy="457200"/>
          </a:xfrm>
          <a:prstGeom prst="rect">
            <a:avLst/>
          </a:prstGeom>
          <a:noFill/>
          <a:ln/>
        </p:spPr>
        <p:txBody>
          <a:bodyPr wrap="square" lIns="0" tIns="0" rIns="0" bIns="0" rtlCol="0" anchor="ctr"/>
          <a:lstStyle/>
          <a:p>
            <a:pPr indent="0" marL="0">
              <a:buNone/>
            </a:pPr>
            <a:r>
              <a:rPr lang="en-US" sz="1400" b="1" dirty="0">
                <a:solidFill>
                  <a:schemeClr val="accent1"/>
                </a:solidFill>
              </a:rPr>
              <a:t>2026.02</a:t>
            </a:r>
            <a:endParaRPr lang="en-US" sz="1400" dirty="0"/>
          </a:p>
        </p:txBody>
      </p:sp>
      <p:sp>
        <p:nvSpPr>
          <p:cNvPr id="16" name="Text 14"/>
          <p:cNvSpPr txBox="1"/>
          <p:nvPr/>
        </p:nvSpPr>
        <p:spPr>
          <a:xfrm>
            <a:off x="5394960" y="2423160"/>
            <a:ext cx="4608576" cy="457200"/>
          </a:xfrm>
          <a:prstGeom prst="rect">
            <a:avLst/>
          </a:prstGeom>
          <a:noFill/>
          <a:ln/>
        </p:spPr>
        <p:txBody>
          <a:bodyPr wrap="square" lIns="0" tIns="0" rIns="0" bIns="0" rtlCol="0" anchor="ctr"/>
          <a:lstStyle/>
          <a:p>
            <a:pPr indent="0" marL="0">
              <a:buNone/>
            </a:pPr>
            <a:r>
              <a:rPr lang="en-US" sz="1300" dirty="0">
                <a:solidFill>
                  <a:schemeClr val="tx1"/>
                </a:solidFill>
              </a:rPr>
              <a:t>석사학위논문 「유리코 사이토의 돌봄 미학으로 본 정원하기」 (서울대학교)</a:t>
            </a:r>
            <a:endParaRPr lang="en-US" sz="1300" dirty="0"/>
          </a:p>
        </p:txBody>
      </p:sp>
      <p:sp>
        <p:nvSpPr>
          <p:cNvPr id="17" name="Text 15"/>
          <p:cNvSpPr txBox="1"/>
          <p:nvPr/>
        </p:nvSpPr>
        <p:spPr>
          <a:xfrm>
            <a:off x="4434840" y="2944368"/>
            <a:ext cx="914400" cy="457200"/>
          </a:xfrm>
          <a:prstGeom prst="rect">
            <a:avLst/>
          </a:prstGeom>
          <a:noFill/>
          <a:ln/>
        </p:spPr>
        <p:txBody>
          <a:bodyPr wrap="square" lIns="0" tIns="0" rIns="0" bIns="0" rtlCol="0" anchor="ctr"/>
          <a:lstStyle/>
          <a:p>
            <a:pPr indent="0" marL="0">
              <a:buNone/>
            </a:pPr>
            <a:r>
              <a:rPr lang="en-US" sz="1400" b="1" dirty="0">
                <a:solidFill>
                  <a:schemeClr val="accent1"/>
                </a:solidFill>
              </a:rPr>
              <a:t>2023.10</a:t>
            </a:r>
            <a:endParaRPr lang="en-US" sz="1400" dirty="0"/>
          </a:p>
        </p:txBody>
      </p:sp>
      <p:sp>
        <p:nvSpPr>
          <p:cNvPr id="18" name="Text 16"/>
          <p:cNvSpPr txBox="1"/>
          <p:nvPr/>
        </p:nvSpPr>
        <p:spPr>
          <a:xfrm>
            <a:off x="5394960" y="2944368"/>
            <a:ext cx="4608576" cy="457200"/>
          </a:xfrm>
          <a:prstGeom prst="rect">
            <a:avLst/>
          </a:prstGeom>
          <a:noFill/>
          <a:ln/>
        </p:spPr>
        <p:txBody>
          <a:bodyPr wrap="square" lIns="0" tIns="0" rIns="0" bIns="0" rtlCol="0" anchor="ctr"/>
          <a:lstStyle/>
          <a:p>
            <a:pPr indent="0" marL="0">
              <a:buNone/>
            </a:pPr>
            <a:r>
              <a:rPr lang="en-US" sz="1300" dirty="0">
                <a:solidFill>
                  <a:schemeClr val="tx1"/>
                </a:solidFill>
              </a:rPr>
              <a:t>한국조경학회 「자연의 경험과 창작: 하이퍼네이처 개념으로 본 로렌스 핼프린의 작업」</a:t>
            </a:r>
            <a:endParaRPr lang="en-US" sz="1300" dirty="0"/>
          </a:p>
        </p:txBody>
      </p:sp>
      <p:sp>
        <p:nvSpPr>
          <p:cNvPr id="19" name="Text 17"/>
          <p:cNvSpPr txBox="1"/>
          <p:nvPr/>
        </p:nvSpPr>
        <p:spPr>
          <a:xfrm>
            <a:off x="4434840" y="3465576"/>
            <a:ext cx="914400" cy="457200"/>
          </a:xfrm>
          <a:prstGeom prst="rect">
            <a:avLst/>
          </a:prstGeom>
          <a:noFill/>
          <a:ln/>
        </p:spPr>
        <p:txBody>
          <a:bodyPr wrap="square" lIns="0" tIns="0" rIns="0" bIns="0" rtlCol="0" anchor="ctr"/>
          <a:lstStyle/>
          <a:p>
            <a:pPr indent="0" marL="0">
              <a:buNone/>
            </a:pPr>
            <a:r>
              <a:rPr lang="en-US" sz="1400" b="1" dirty="0">
                <a:solidFill>
                  <a:schemeClr val="accent1"/>
                </a:solidFill>
              </a:rPr>
              <a:t>2024.04</a:t>
            </a:r>
            <a:endParaRPr lang="en-US" sz="1400" dirty="0"/>
          </a:p>
        </p:txBody>
      </p:sp>
      <p:sp>
        <p:nvSpPr>
          <p:cNvPr id="20" name="Text 18"/>
          <p:cNvSpPr txBox="1"/>
          <p:nvPr/>
        </p:nvSpPr>
        <p:spPr>
          <a:xfrm>
            <a:off x="5394960" y="3465576"/>
            <a:ext cx="4608576" cy="457200"/>
          </a:xfrm>
          <a:prstGeom prst="rect">
            <a:avLst/>
          </a:prstGeom>
          <a:noFill/>
          <a:ln/>
        </p:spPr>
        <p:txBody>
          <a:bodyPr wrap="square" lIns="0" tIns="0" rIns="0" bIns="0" rtlCol="0" anchor="ctr"/>
          <a:lstStyle/>
          <a:p>
            <a:pPr indent="0" marL="0">
              <a:buNone/>
            </a:pPr>
            <a:r>
              <a:rPr lang="en-US" sz="1300" dirty="0">
                <a:solidFill>
                  <a:schemeClr val="tx1"/>
                </a:solidFill>
              </a:rPr>
              <a:t>한국조경학회 「유리코 사이토의 돌봄 미학에 관한 비판적 고찰」</a:t>
            </a:r>
            <a:endParaRPr lang="en-US" sz="1300" dirty="0"/>
          </a:p>
        </p:txBody>
      </p:sp>
      <p:sp>
        <p:nvSpPr>
          <p:cNvPr id="21" name="project-card"/>
          <p:cNvSpPr/>
          <p:nvPr/>
        </p:nvSpPr>
        <p:spPr>
          <a:xfrm>
            <a:off x="502920" y="4206240"/>
            <a:ext cx="3105912" cy="2011680"/>
          </a:xfrm>
          <a:prstGeom prst="roundRect">
            <a:avLst>
              <a:gd name="adj" fmla="val 3636"/>
            </a:avLst>
          </a:prstGeom>
          <a:solidFill>
            <a:schemeClr val="accent4"/>
          </a:solidFill>
          <a:ln/>
        </p:spPr>
      </p:sp>
      <p:sp>
        <p:nvSpPr>
          <p:cNvPr id="22" name="chip"/>
          <p:cNvSpPr/>
          <p:nvPr/>
        </p:nvSpPr>
        <p:spPr>
          <a:xfrm>
            <a:off x="685800" y="4370832"/>
            <a:ext cx="1234440" cy="292608"/>
          </a:xfrm>
          <a:prstGeom prst="roundRect">
            <a:avLst>
              <a:gd name="adj" fmla="val 25000"/>
            </a:avLst>
          </a:prstGeom>
          <a:solidFill>
            <a:schemeClr val="accent2"/>
          </a:solidFill>
          <a:ln/>
        </p:spPr>
      </p:sp>
      <p:sp>
        <p:nvSpPr>
          <p:cNvPr id="23" name="Text 21"/>
          <p:cNvSpPr txBox="1"/>
          <p:nvPr/>
        </p:nvSpPr>
        <p:spPr>
          <a:xfrm>
            <a:off x="685800" y="4370832"/>
            <a:ext cx="1234440" cy="292608"/>
          </a:xfrm>
          <a:prstGeom prst="rect">
            <a:avLst/>
          </a:prstGeom>
          <a:noFill/>
          <a:ln/>
        </p:spPr>
        <p:txBody>
          <a:bodyPr wrap="square" lIns="0" tIns="0" rIns="0" bIns="0" rtlCol="0" anchor="ctr"/>
          <a:lstStyle/>
          <a:p>
            <a:pPr algn="ctr" indent="0" marL="0">
              <a:buNone/>
            </a:pPr>
            <a:r>
              <a:rPr lang="en-US" sz="1200" b="1" dirty="0">
                <a:solidFill>
                  <a:schemeClr val="tx1"/>
                </a:solidFill>
              </a:rPr>
              <a:t>대학원 설계</a:t>
            </a:r>
            <a:endParaRPr lang="en-US" sz="1200" dirty="0"/>
          </a:p>
        </p:txBody>
      </p:sp>
      <p:sp>
        <p:nvSpPr>
          <p:cNvPr id="24" name="Text 22"/>
          <p:cNvSpPr txBox="1"/>
          <p:nvPr/>
        </p:nvSpPr>
        <p:spPr>
          <a:xfrm>
            <a:off x="685800" y="4800600"/>
            <a:ext cx="2740152" cy="365760"/>
          </a:xfrm>
          <a:prstGeom prst="rect">
            <a:avLst/>
          </a:prstGeom>
          <a:noFill/>
          <a:ln/>
        </p:spPr>
        <p:txBody>
          <a:bodyPr wrap="square" lIns="0" tIns="0" rIns="0" bIns="0" rtlCol="0" anchor="ctr"/>
          <a:lstStyle/>
          <a:p>
            <a:pPr indent="0" marL="0">
              <a:buNone/>
            </a:pPr>
            <a:r>
              <a:rPr lang="en-US" sz="1700" b="1" dirty="0">
                <a:solidFill>
                  <a:schemeClr val="accent1"/>
                </a:solidFill>
              </a:rPr>
              <a:t>THE WOVEN PAVILION</a:t>
            </a:r>
            <a:endParaRPr lang="en-US" sz="1700" dirty="0"/>
          </a:p>
        </p:txBody>
      </p:sp>
      <p:sp>
        <p:nvSpPr>
          <p:cNvPr id="25" name="Text 23"/>
          <p:cNvSpPr txBox="1"/>
          <p:nvPr/>
        </p:nvSpPr>
        <p:spPr>
          <a:xfrm>
            <a:off x="685800" y="5257800"/>
            <a:ext cx="2740152" cy="868680"/>
          </a:xfrm>
          <a:prstGeom prst="rect">
            <a:avLst/>
          </a:prstGeom>
          <a:noFill/>
          <a:ln/>
        </p:spPr>
        <p:txBody>
          <a:bodyPr wrap="square" lIns="0" tIns="0" rIns="0" bIns="0" rtlCol="0" anchor="t"/>
          <a:lstStyle/>
          <a:p>
            <a:pPr indent="0" marL="0">
              <a:buNone/>
            </a:pPr>
            <a:r>
              <a:rPr lang="en-US" sz="1450" dirty="0">
                <a:solidFill>
                  <a:schemeClr val="tx1"/>
                </a:solidFill>
              </a:rPr>
              <a:t>화성 어은천을 대상으로 사람과 새의 공존을 고려한 탐조 공간과 식재 제안</a:t>
            </a:r>
            <a:endParaRPr lang="en-US" sz="1450" dirty="0"/>
          </a:p>
        </p:txBody>
      </p:sp>
      <p:sp>
        <p:nvSpPr>
          <p:cNvPr id="26" name="project-card"/>
          <p:cNvSpPr/>
          <p:nvPr/>
        </p:nvSpPr>
        <p:spPr>
          <a:xfrm>
            <a:off x="3791712" y="4206240"/>
            <a:ext cx="3105912" cy="2011680"/>
          </a:xfrm>
          <a:prstGeom prst="roundRect">
            <a:avLst>
              <a:gd name="adj" fmla="val 3636"/>
            </a:avLst>
          </a:prstGeom>
          <a:solidFill>
            <a:schemeClr val="accent4"/>
          </a:solidFill>
          <a:ln/>
        </p:spPr>
      </p:sp>
      <p:sp>
        <p:nvSpPr>
          <p:cNvPr id="27" name="chip"/>
          <p:cNvSpPr/>
          <p:nvPr/>
        </p:nvSpPr>
        <p:spPr>
          <a:xfrm>
            <a:off x="3974592" y="4370832"/>
            <a:ext cx="1234440" cy="292608"/>
          </a:xfrm>
          <a:prstGeom prst="roundRect">
            <a:avLst>
              <a:gd name="adj" fmla="val 25000"/>
            </a:avLst>
          </a:prstGeom>
          <a:solidFill>
            <a:schemeClr val="accent2"/>
          </a:solidFill>
          <a:ln/>
        </p:spPr>
      </p:sp>
      <p:sp>
        <p:nvSpPr>
          <p:cNvPr id="28" name="Text 26"/>
          <p:cNvSpPr txBox="1"/>
          <p:nvPr/>
        </p:nvSpPr>
        <p:spPr>
          <a:xfrm>
            <a:off x="3974592" y="4370832"/>
            <a:ext cx="1234440" cy="292608"/>
          </a:xfrm>
          <a:prstGeom prst="rect">
            <a:avLst/>
          </a:prstGeom>
          <a:noFill/>
          <a:ln/>
        </p:spPr>
        <p:txBody>
          <a:bodyPr wrap="square" lIns="0" tIns="0" rIns="0" bIns="0" rtlCol="0" anchor="ctr"/>
          <a:lstStyle/>
          <a:p>
            <a:pPr algn="ctr" indent="0" marL="0">
              <a:buNone/>
            </a:pPr>
            <a:r>
              <a:rPr lang="en-US" sz="1200" b="1" dirty="0">
                <a:solidFill>
                  <a:schemeClr val="tx1"/>
                </a:solidFill>
              </a:rPr>
              <a:t>팀 프로젝트</a:t>
            </a:r>
            <a:endParaRPr lang="en-US" sz="1200" dirty="0"/>
          </a:p>
        </p:txBody>
      </p:sp>
      <p:sp>
        <p:nvSpPr>
          <p:cNvPr id="29" name="Text 27"/>
          <p:cNvSpPr txBox="1"/>
          <p:nvPr/>
        </p:nvSpPr>
        <p:spPr>
          <a:xfrm>
            <a:off x="3974592" y="4800600"/>
            <a:ext cx="2740152" cy="365760"/>
          </a:xfrm>
          <a:prstGeom prst="rect">
            <a:avLst/>
          </a:prstGeom>
          <a:noFill/>
          <a:ln/>
        </p:spPr>
        <p:txBody>
          <a:bodyPr wrap="square" lIns="0" tIns="0" rIns="0" bIns="0" rtlCol="0" anchor="ctr"/>
          <a:lstStyle/>
          <a:p>
            <a:pPr indent="0" marL="0">
              <a:buNone/>
            </a:pPr>
            <a:r>
              <a:rPr lang="en-US" sz="1700" b="1" dirty="0">
                <a:solidFill>
                  <a:schemeClr val="accent1"/>
                </a:solidFill>
              </a:rPr>
              <a:t>BEYOND THE TANGIBLE</a:t>
            </a:r>
            <a:endParaRPr lang="en-US" sz="1700" dirty="0"/>
          </a:p>
        </p:txBody>
      </p:sp>
      <p:sp>
        <p:nvSpPr>
          <p:cNvPr id="30" name="Text 28"/>
          <p:cNvSpPr txBox="1"/>
          <p:nvPr/>
        </p:nvSpPr>
        <p:spPr>
          <a:xfrm>
            <a:off x="3974592" y="5257800"/>
            <a:ext cx="2740152" cy="868680"/>
          </a:xfrm>
          <a:prstGeom prst="rect">
            <a:avLst/>
          </a:prstGeom>
          <a:noFill/>
          <a:ln/>
        </p:spPr>
        <p:txBody>
          <a:bodyPr wrap="square" lIns="0" tIns="0" rIns="0" bIns="0" rtlCol="0" anchor="t"/>
          <a:lstStyle/>
          <a:p>
            <a:pPr indent="0" marL="0">
              <a:buNone/>
            </a:pPr>
            <a:r>
              <a:rPr lang="en-US" sz="1450" dirty="0">
                <a:solidFill>
                  <a:schemeClr val="tx1"/>
                </a:solidFill>
              </a:rPr>
              <a:t>문화비축기지의 공동체정원·도시농업 지속가능성 검토, 컨셉·상세 도면·식재·마스터플랜</a:t>
            </a:r>
            <a:endParaRPr lang="en-US" sz="1450" dirty="0"/>
          </a:p>
        </p:txBody>
      </p:sp>
      <p:sp>
        <p:nvSpPr>
          <p:cNvPr id="31" name="project-card"/>
          <p:cNvSpPr/>
          <p:nvPr/>
        </p:nvSpPr>
        <p:spPr>
          <a:xfrm>
            <a:off x="7080504" y="4206240"/>
            <a:ext cx="3105912" cy="2011680"/>
          </a:xfrm>
          <a:prstGeom prst="roundRect">
            <a:avLst>
              <a:gd name="adj" fmla="val 3636"/>
            </a:avLst>
          </a:prstGeom>
          <a:solidFill>
            <a:schemeClr val="accent4"/>
          </a:solidFill>
          <a:ln/>
        </p:spPr>
      </p:sp>
      <p:sp>
        <p:nvSpPr>
          <p:cNvPr id="32" name="chip"/>
          <p:cNvSpPr/>
          <p:nvPr/>
        </p:nvSpPr>
        <p:spPr>
          <a:xfrm>
            <a:off x="7263384" y="4370832"/>
            <a:ext cx="1234440" cy="292608"/>
          </a:xfrm>
          <a:prstGeom prst="roundRect">
            <a:avLst>
              <a:gd name="adj" fmla="val 25000"/>
            </a:avLst>
          </a:prstGeom>
          <a:solidFill>
            <a:schemeClr val="accent2"/>
          </a:solidFill>
          <a:ln/>
        </p:spPr>
      </p:sp>
      <p:sp>
        <p:nvSpPr>
          <p:cNvPr id="33" name="Text 31"/>
          <p:cNvSpPr txBox="1"/>
          <p:nvPr/>
        </p:nvSpPr>
        <p:spPr>
          <a:xfrm>
            <a:off x="7263384" y="4370832"/>
            <a:ext cx="1234440" cy="292608"/>
          </a:xfrm>
          <a:prstGeom prst="rect">
            <a:avLst/>
          </a:prstGeom>
          <a:noFill/>
          <a:ln/>
        </p:spPr>
        <p:txBody>
          <a:bodyPr wrap="square" lIns="0" tIns="0" rIns="0" bIns="0" rtlCol="0" anchor="ctr"/>
          <a:lstStyle/>
          <a:p>
            <a:pPr algn="ctr" indent="0" marL="0">
              <a:buNone/>
            </a:pPr>
            <a:r>
              <a:rPr lang="en-US" sz="1200" b="1" dirty="0">
                <a:solidFill>
                  <a:schemeClr val="tx1"/>
                </a:solidFill>
              </a:rPr>
              <a:t>학부 졸업연구</a:t>
            </a:r>
            <a:endParaRPr lang="en-US" sz="1200" dirty="0"/>
          </a:p>
        </p:txBody>
      </p:sp>
      <p:sp>
        <p:nvSpPr>
          <p:cNvPr id="34" name="Text 32"/>
          <p:cNvSpPr txBox="1"/>
          <p:nvPr/>
        </p:nvSpPr>
        <p:spPr>
          <a:xfrm>
            <a:off x="7263384" y="4800600"/>
            <a:ext cx="2740152" cy="365760"/>
          </a:xfrm>
          <a:prstGeom prst="rect">
            <a:avLst/>
          </a:prstGeom>
          <a:noFill/>
          <a:ln/>
        </p:spPr>
        <p:txBody>
          <a:bodyPr wrap="square" lIns="0" tIns="0" rIns="0" bIns="0" rtlCol="0" anchor="ctr"/>
          <a:lstStyle/>
          <a:p>
            <a:pPr indent="0" marL="0">
              <a:buNone/>
            </a:pPr>
            <a:r>
              <a:rPr lang="en-US" sz="1700" b="1" dirty="0">
                <a:solidFill>
                  <a:schemeClr val="accent1"/>
                </a:solidFill>
              </a:rPr>
              <a:t>인테리어디자인졸업연구 I·II</a:t>
            </a:r>
            <a:endParaRPr lang="en-US" sz="1700" dirty="0"/>
          </a:p>
        </p:txBody>
      </p:sp>
      <p:sp>
        <p:nvSpPr>
          <p:cNvPr id="35" name="Text 33"/>
          <p:cNvSpPr txBox="1"/>
          <p:nvPr/>
        </p:nvSpPr>
        <p:spPr>
          <a:xfrm>
            <a:off x="7263384" y="5257800"/>
            <a:ext cx="2740152" cy="868680"/>
          </a:xfrm>
          <a:prstGeom prst="rect">
            <a:avLst/>
          </a:prstGeom>
          <a:noFill/>
          <a:ln/>
        </p:spPr>
        <p:txBody>
          <a:bodyPr wrap="square" lIns="0" tIns="0" rIns="0" bIns="0" rtlCol="0" anchor="t"/>
          <a:lstStyle/>
          <a:p>
            <a:pPr indent="0" marL="0">
              <a:buNone/>
            </a:pPr>
            <a:r>
              <a:rPr lang="en-US" sz="1450" dirty="0">
                <a:solidFill>
                  <a:schemeClr val="tx1"/>
                </a:solidFill>
              </a:rPr>
              <a:t>서울도시건축전시관 지하 연결공간을 다른 활동으로 잇는 방안 제안</a:t>
            </a:r>
            <a:endParaRPr lang="en-US" sz="1450" dirty="0"/>
          </a:p>
        </p:txBody>
      </p:sp>
      <p:sp>
        <p:nvSpPr>
          <p:cNvPr id="36" name="callout"/>
          <p:cNvSpPr/>
          <p:nvPr/>
        </p:nvSpPr>
        <p:spPr>
          <a:xfrm>
            <a:off x="502920" y="6355080"/>
            <a:ext cx="9683496" cy="530352"/>
          </a:xfrm>
          <a:prstGeom prst="roundRect">
            <a:avLst>
              <a:gd name="adj" fmla="val 13793"/>
            </a:avLst>
          </a:prstGeom>
          <a:solidFill>
            <a:schemeClr val="accent3"/>
          </a:solidFill>
          <a:ln/>
        </p:spPr>
      </p:sp>
      <p:sp>
        <p:nvSpPr>
          <p:cNvPr id="37" name="Text 35"/>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상과 발표, 설계 작업이 ‘공간 · 참여 · 이론’을 잇는 토대가 되었습니다</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문제의식의 형성</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03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‘어떤 공간을 만들 것인가’에서</a:t>
            </a:r>
            <a:endParaRPr lang="en-US" sz="2500" dirty="0"/>
          </a:p>
          <a:p>
            <a:pPr algn="ctr" indent="0" marL="0">
              <a:buNone/>
            </a:pPr>
            <a:r>
              <a:rPr lang="en-US" sz="2500" b="1" dirty="0">
                <a:solidFill>
                  <a:schemeClr val="tx1"/>
                </a:solidFill>
              </a:rPr>
              <a:t>‘누가 계속 가꾸는가’로 질문이 옮겨 갔습니다</a:t>
            </a:r>
            <a:endParaRPr lang="en-US" sz="2500" dirty="0"/>
          </a:p>
        </p:txBody>
      </p:sp>
      <p:sp>
        <p:nvSpPr>
          <p:cNvPr id="5" name="stage-card"/>
          <p:cNvSpPr/>
          <p:nvPr/>
        </p:nvSpPr>
        <p:spPr>
          <a:xfrm>
            <a:off x="502920" y="1783080"/>
            <a:ext cx="3063240" cy="4343400"/>
          </a:xfrm>
          <a:prstGeom prst="roundRect">
            <a:avLst>
              <a:gd name="adj" fmla="val 2388"/>
            </a:avLst>
          </a:prstGeom>
          <a:solidFill>
            <a:schemeClr val="bg2"/>
          </a:solidFill>
          <a:ln/>
        </p:spPr>
      </p:sp>
      <p:sp>
        <p:nvSpPr>
          <p:cNvPr id="6" name="stage-head"/>
          <p:cNvSpPr/>
          <p:nvPr/>
        </p:nvSpPr>
        <p:spPr>
          <a:xfrm>
            <a:off x="502920" y="1783080"/>
            <a:ext cx="3063240" cy="868680"/>
          </a:xfrm>
          <a:prstGeom prst="roundRect">
            <a:avLst>
              <a:gd name="adj" fmla="val 8421"/>
            </a:avLst>
          </a:prstGeom>
          <a:solidFill>
            <a:schemeClr val="accent1"/>
          </a:solidFill>
          <a:ln/>
        </p:spPr>
      </p:sp>
      <p:sp>
        <p:nvSpPr>
          <p:cNvPr id="7" name="Text 5"/>
          <p:cNvSpPr txBox="1"/>
          <p:nvPr/>
        </p:nvSpPr>
        <p:spPr>
          <a:xfrm>
            <a:off x="685800" y="1783080"/>
            <a:ext cx="731520" cy="868680"/>
          </a:xfrm>
          <a:prstGeom prst="rect">
            <a:avLst/>
          </a:prstGeom>
          <a:noFill/>
          <a:ln/>
        </p:spPr>
        <p:txBody>
          <a:bodyPr wrap="square" lIns="0" tIns="0" rIns="0" bIns="0" rtlCol="0" anchor="ctr"/>
          <a:lstStyle/>
          <a:p>
            <a:pPr indent="0" marL="0">
              <a:buNone/>
            </a:pPr>
            <a:r>
              <a:rPr lang="en-US" sz="3000" b="1" dirty="0">
                <a:solidFill>
                  <a:schemeClr val="accent3"/>
                </a:solidFill>
              </a:rPr>
              <a:t>01</a:t>
            </a:r>
            <a:endParaRPr lang="en-US" sz="3000" dirty="0"/>
          </a:p>
        </p:txBody>
      </p:sp>
      <p:sp>
        <p:nvSpPr>
          <p:cNvPr id="8" name="Text 6"/>
          <p:cNvSpPr txBox="1"/>
          <p:nvPr/>
        </p:nvSpPr>
        <p:spPr>
          <a:xfrm>
            <a:off x="1463040" y="1783080"/>
            <a:ext cx="1965960" cy="868680"/>
          </a:xfrm>
          <a:prstGeom prst="rect">
            <a:avLst/>
          </a:prstGeom>
          <a:noFill/>
          <a:ln/>
        </p:spPr>
        <p:txBody>
          <a:bodyPr wrap="square" lIns="0" tIns="0" rIns="0" bIns="0" rtlCol="0" anchor="ctr"/>
          <a:lstStyle/>
          <a:p>
            <a:pPr indent="0" marL="0">
              <a:buNone/>
            </a:pPr>
            <a:r>
              <a:rPr lang="en-US" sz="1800" b="1" dirty="0">
                <a:solidFill>
                  <a:schemeClr val="bg1"/>
                </a:solidFill>
              </a:rPr>
              <a:t>공간디자인</a:t>
            </a:r>
            <a:endParaRPr lang="en-US" sz="1400" dirty="0"/>
          </a:p>
          <a:p>
            <a:pPr indent="0" marL="0">
              <a:buNone/>
            </a:pPr>
            <a:r>
              <a:rPr lang="en-US" sz="1250" dirty="0">
                <a:solidFill>
                  <a:schemeClr val="bg1"/>
                </a:solidFill>
              </a:rPr>
              <a:t>학부 · 공원 참여</a:t>
            </a:r>
            <a:endParaRPr lang="en-US" sz="1400" dirty="0"/>
          </a:p>
        </p:txBody>
      </p:sp>
      <p:sp>
        <p:nvSpPr>
          <p:cNvPr id="9" name="chip"/>
          <p:cNvSpPr/>
          <p:nvPr/>
        </p:nvSpPr>
        <p:spPr>
          <a:xfrm>
            <a:off x="685800" y="2807208"/>
            <a:ext cx="2697480" cy="347472"/>
          </a:xfrm>
          <a:prstGeom prst="roundRect">
            <a:avLst>
              <a:gd name="adj" fmla="val 21053"/>
            </a:avLst>
          </a:prstGeom>
          <a:solidFill>
            <a:schemeClr val="accent2"/>
          </a:solidFill>
          <a:ln/>
        </p:spPr>
      </p:sp>
      <p:sp>
        <p:nvSpPr>
          <p:cNvPr id="10" name="Text 8"/>
          <p:cNvSpPr txBox="1"/>
          <p:nvPr/>
        </p:nvSpPr>
        <p:spPr>
          <a:xfrm>
            <a:off x="685800" y="2807208"/>
            <a:ext cx="2697480" cy="347472"/>
          </a:xfrm>
          <a:prstGeom prst="rect">
            <a:avLst/>
          </a:prstGeom>
          <a:noFill/>
          <a:ln/>
        </p:spPr>
        <p:txBody>
          <a:bodyPr wrap="square" lIns="0" tIns="0" rIns="0" bIns="0" rtlCol="0" anchor="ctr"/>
          <a:lstStyle/>
          <a:p>
            <a:pPr algn="ctr" indent="0" marL="0">
              <a:buNone/>
            </a:pPr>
            <a:r>
              <a:rPr lang="en-US" sz="1400" b="1" dirty="0">
                <a:solidFill>
                  <a:schemeClr val="tx1"/>
                </a:solidFill>
              </a:rPr>
              <a:t>공간과 이용 행위</a:t>
            </a:r>
            <a:endParaRPr lang="en-US" sz="1400" dirty="0"/>
          </a:p>
        </p:txBody>
      </p:sp>
      <p:sp>
        <p:nvSpPr>
          <p:cNvPr id="11" name="Text 9"/>
          <p:cNvSpPr txBox="1"/>
          <p:nvPr/>
        </p:nvSpPr>
        <p:spPr>
          <a:xfrm>
            <a:off x="685800" y="3291840"/>
            <a:ext cx="2697480" cy="1143000"/>
          </a:xfrm>
          <a:prstGeom prst="rect">
            <a:avLst/>
          </a:prstGeom>
          <a:noFill/>
          <a:ln/>
        </p:spPr>
        <p:txBody>
          <a:bodyPr wrap="square" lIns="0" tIns="0" rIns="0" bIns="0" rtlCol="0" anchor="t"/>
          <a:lstStyle/>
          <a:p>
            <a:pPr indent="0" marL="0">
              <a:buNone/>
            </a:pPr>
            <a:r>
              <a:rPr lang="en-US" sz="1600" b="1" dirty="0">
                <a:solidFill>
                  <a:schemeClr val="tx1"/>
                </a:solidFill>
              </a:rPr>
              <a:t>어떤 공간을 만들고, 사람들은 그곳을 어떻게 이용하는가?</a:t>
            </a:r>
            <a:endParaRPr lang="en-US" sz="1600" dirty="0"/>
          </a:p>
        </p:txBody>
      </p:sp>
      <p:sp>
        <p:nvSpPr>
          <p:cNvPr id="12" name="Text 10"/>
          <p:cNvSpPr txBox="1"/>
          <p:nvPr/>
        </p:nvSpPr>
        <p:spPr>
          <a:xfrm>
            <a:off x="685800" y="4526280"/>
            <a:ext cx="2697480" cy="228600"/>
          </a:xfrm>
          <a:prstGeom prst="rect">
            <a:avLst/>
          </a:prstGeom>
          <a:noFill/>
          <a:ln/>
        </p:spPr>
        <p:txBody>
          <a:bodyPr wrap="square" lIns="0" tIns="0" rIns="0" bIns="0" rtlCol="0" anchor="t"/>
          <a:lstStyle/>
          <a:p>
            <a:pPr indent="0" marL="0">
              <a:buNone/>
            </a:pPr>
            <a:r>
              <a:rPr lang="en-US" sz="1200" b="1" dirty="0">
                <a:solidFill>
                  <a:schemeClr val="accent5"/>
                </a:solidFill>
              </a:rPr>
              <a:t>근거가 된 경험</a:t>
            </a:r>
            <a:endParaRPr lang="en-US" sz="1200" dirty="0"/>
          </a:p>
        </p:txBody>
      </p:sp>
      <p:sp>
        <p:nvSpPr>
          <p:cNvPr id="13" name="Text 11"/>
          <p:cNvSpPr txBox="1"/>
          <p:nvPr/>
        </p:nvSpPr>
        <p:spPr>
          <a:xfrm>
            <a:off x="685800" y="4800600"/>
            <a:ext cx="2697480" cy="1234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이화여대 공간디자인, 졸업설계</a:t>
            </a:r>
            <a:endParaRPr lang="en-US" sz="1300" dirty="0"/>
          </a:p>
          <a:p>
            <a:pPr marL="342900" indent="-342900">
              <a:spcAft>
                <a:spcPts val="400"/>
              </a:spcAft>
              <a:buSzPct val="100000"/>
              <a:buChar char="•"/>
            </a:pPr>
            <a:r>
              <a:rPr lang="en-US" sz="1300" dirty="0">
                <a:solidFill>
                  <a:schemeClr val="tx1"/>
                </a:solidFill>
              </a:rPr>
              <a:t>용산공원 국민참여단 (우수상)</a:t>
            </a:r>
            <a:endParaRPr lang="en-US" sz="1300" dirty="0"/>
          </a:p>
          <a:p>
            <a:pPr marL="342900" indent="-342900">
              <a:spcAft>
                <a:spcPts val="400"/>
              </a:spcAft>
              <a:buSzPct val="100000"/>
              <a:buChar char="•"/>
            </a:pPr>
            <a:r>
              <a:rPr lang="en-US" sz="1300" dirty="0">
                <a:solidFill>
                  <a:schemeClr val="tx1"/>
                </a:solidFill>
              </a:rPr>
              <a:t>한국정원협회 · 민간정원 등록 매뉴얼</a:t>
            </a:r>
            <a:endParaRPr lang="en-US" sz="1300" dirty="0"/>
          </a:p>
        </p:txBody>
      </p:sp>
      <p:sp>
        <p:nvSpPr>
          <p:cNvPr id="14" name="arrow"/>
          <p:cNvSpPr/>
          <p:nvPr/>
        </p:nvSpPr>
        <p:spPr>
          <a:xfrm>
            <a:off x="3584448" y="2084832"/>
            <a:ext cx="210312" cy="274320"/>
          </a:xfrm>
          <a:prstGeom prst="rightArrow">
            <a:avLst/>
          </a:prstGeom>
          <a:solidFill>
            <a:schemeClr val="accent2"/>
          </a:solidFill>
          <a:ln/>
        </p:spPr>
      </p:sp>
      <p:sp>
        <p:nvSpPr>
          <p:cNvPr id="15" name="stage-card"/>
          <p:cNvSpPr/>
          <p:nvPr/>
        </p:nvSpPr>
        <p:spPr>
          <a:xfrm>
            <a:off x="3813048" y="1783080"/>
            <a:ext cx="3063240" cy="4343400"/>
          </a:xfrm>
          <a:prstGeom prst="roundRect">
            <a:avLst>
              <a:gd name="adj" fmla="val 2388"/>
            </a:avLst>
          </a:prstGeom>
          <a:solidFill>
            <a:schemeClr val="bg2"/>
          </a:solidFill>
          <a:ln/>
        </p:spPr>
      </p:sp>
      <p:sp>
        <p:nvSpPr>
          <p:cNvPr id="16" name="stage-head"/>
          <p:cNvSpPr/>
          <p:nvPr/>
        </p:nvSpPr>
        <p:spPr>
          <a:xfrm>
            <a:off x="3813048" y="1783080"/>
            <a:ext cx="3063240" cy="868680"/>
          </a:xfrm>
          <a:prstGeom prst="roundRect">
            <a:avLst>
              <a:gd name="adj" fmla="val 8421"/>
            </a:avLst>
          </a:prstGeom>
          <a:solidFill>
            <a:schemeClr val="accent1"/>
          </a:solidFill>
          <a:ln/>
        </p:spPr>
      </p:sp>
      <p:sp>
        <p:nvSpPr>
          <p:cNvPr id="17" name="Text 15"/>
          <p:cNvSpPr txBox="1"/>
          <p:nvPr/>
        </p:nvSpPr>
        <p:spPr>
          <a:xfrm>
            <a:off x="3995928" y="1783080"/>
            <a:ext cx="731520" cy="868680"/>
          </a:xfrm>
          <a:prstGeom prst="rect">
            <a:avLst/>
          </a:prstGeom>
          <a:noFill/>
          <a:ln/>
        </p:spPr>
        <p:txBody>
          <a:bodyPr wrap="square" lIns="0" tIns="0" rIns="0" bIns="0" rtlCol="0" anchor="ctr"/>
          <a:lstStyle/>
          <a:p>
            <a:pPr indent="0" marL="0">
              <a:buNone/>
            </a:pPr>
            <a:r>
              <a:rPr lang="en-US" sz="3000" b="1" dirty="0">
                <a:solidFill>
                  <a:schemeClr val="accent3"/>
                </a:solidFill>
              </a:rPr>
              <a:t>02</a:t>
            </a:r>
            <a:endParaRPr lang="en-US" sz="3000" dirty="0"/>
          </a:p>
        </p:txBody>
      </p:sp>
      <p:sp>
        <p:nvSpPr>
          <p:cNvPr id="18" name="Text 16"/>
          <p:cNvSpPr txBox="1"/>
          <p:nvPr/>
        </p:nvSpPr>
        <p:spPr>
          <a:xfrm>
            <a:off x="4773168" y="1783080"/>
            <a:ext cx="1965960" cy="868680"/>
          </a:xfrm>
          <a:prstGeom prst="rect">
            <a:avLst/>
          </a:prstGeom>
          <a:noFill/>
          <a:ln/>
        </p:spPr>
        <p:txBody>
          <a:bodyPr wrap="square" lIns="0" tIns="0" rIns="0" bIns="0" rtlCol="0" anchor="ctr"/>
          <a:lstStyle/>
          <a:p>
            <a:pPr indent="0" marL="0">
              <a:buNone/>
            </a:pPr>
            <a:r>
              <a:rPr lang="en-US" sz="1800" b="1" dirty="0">
                <a:solidFill>
                  <a:schemeClr val="bg1"/>
                </a:solidFill>
              </a:rPr>
              <a:t>석사연구</a:t>
            </a:r>
            <a:endParaRPr lang="en-US" sz="1400" dirty="0"/>
          </a:p>
          <a:p>
            <a:pPr indent="0" marL="0">
              <a:buNone/>
            </a:pPr>
            <a:r>
              <a:rPr lang="en-US" sz="1250" dirty="0">
                <a:solidFill>
                  <a:schemeClr val="bg1"/>
                </a:solidFill>
              </a:rPr>
              <a:t>서울대 · 학회발표</a:t>
            </a:r>
            <a:endParaRPr lang="en-US" sz="1400" dirty="0"/>
          </a:p>
        </p:txBody>
      </p:sp>
      <p:sp>
        <p:nvSpPr>
          <p:cNvPr id="19" name="chip"/>
          <p:cNvSpPr/>
          <p:nvPr/>
        </p:nvSpPr>
        <p:spPr>
          <a:xfrm>
            <a:off x="3995928" y="2807208"/>
            <a:ext cx="2697480" cy="347472"/>
          </a:xfrm>
          <a:prstGeom prst="roundRect">
            <a:avLst>
              <a:gd name="adj" fmla="val 21053"/>
            </a:avLst>
          </a:prstGeom>
          <a:solidFill>
            <a:schemeClr val="accent2"/>
          </a:solidFill>
          <a:ln/>
        </p:spPr>
      </p:sp>
      <p:sp>
        <p:nvSpPr>
          <p:cNvPr id="20" name="Text 18"/>
          <p:cNvSpPr txBox="1"/>
          <p:nvPr/>
        </p:nvSpPr>
        <p:spPr>
          <a:xfrm>
            <a:off x="3995928" y="2807208"/>
            <a:ext cx="2697480" cy="347472"/>
          </a:xfrm>
          <a:prstGeom prst="rect">
            <a:avLst/>
          </a:prstGeom>
          <a:noFill/>
          <a:ln/>
        </p:spPr>
        <p:txBody>
          <a:bodyPr wrap="square" lIns="0" tIns="0" rIns="0" bIns="0" rtlCol="0" anchor="ctr"/>
          <a:lstStyle/>
          <a:p>
            <a:pPr algn="ctr" indent="0" marL="0">
              <a:buNone/>
            </a:pPr>
            <a:r>
              <a:rPr lang="en-US" sz="1400" b="1" dirty="0">
                <a:solidFill>
                  <a:schemeClr val="tx1"/>
                </a:solidFill>
              </a:rPr>
              <a:t>정원하기의 돌봄</a:t>
            </a:r>
            <a:endParaRPr lang="en-US" sz="1400" dirty="0"/>
          </a:p>
        </p:txBody>
      </p:sp>
      <p:sp>
        <p:nvSpPr>
          <p:cNvPr id="21" name="Text 19"/>
          <p:cNvSpPr txBox="1"/>
          <p:nvPr/>
        </p:nvSpPr>
        <p:spPr>
          <a:xfrm>
            <a:off x="3995928" y="3291840"/>
            <a:ext cx="2697480" cy="1143000"/>
          </a:xfrm>
          <a:prstGeom prst="rect">
            <a:avLst/>
          </a:prstGeom>
          <a:noFill/>
          <a:ln/>
        </p:spPr>
        <p:txBody>
          <a:bodyPr wrap="square" lIns="0" tIns="0" rIns="0" bIns="0" rtlCol="0" anchor="t"/>
          <a:lstStyle/>
          <a:p>
            <a:pPr indent="0" marL="0">
              <a:buNone/>
            </a:pPr>
            <a:r>
              <a:rPr lang="en-US" sz="1600" b="1" dirty="0">
                <a:solidFill>
                  <a:schemeClr val="tx1"/>
                </a:solidFill>
              </a:rPr>
              <a:t>식물의 변화를 살피고 판단하며 응답하는 일은 어떤 의미를 갖는가?</a:t>
            </a:r>
            <a:endParaRPr lang="en-US" sz="1600" dirty="0"/>
          </a:p>
        </p:txBody>
      </p:sp>
      <p:sp>
        <p:nvSpPr>
          <p:cNvPr id="22" name="Text 20"/>
          <p:cNvSpPr txBox="1"/>
          <p:nvPr/>
        </p:nvSpPr>
        <p:spPr>
          <a:xfrm>
            <a:off x="3995928" y="4526280"/>
            <a:ext cx="2697480" cy="228600"/>
          </a:xfrm>
          <a:prstGeom prst="rect">
            <a:avLst/>
          </a:prstGeom>
          <a:noFill/>
          <a:ln/>
        </p:spPr>
        <p:txBody>
          <a:bodyPr wrap="square" lIns="0" tIns="0" rIns="0" bIns="0" rtlCol="0" anchor="t"/>
          <a:lstStyle/>
          <a:p>
            <a:pPr indent="0" marL="0">
              <a:buNone/>
            </a:pPr>
            <a:r>
              <a:rPr lang="en-US" sz="1200" b="1" dirty="0">
                <a:solidFill>
                  <a:schemeClr val="accent5"/>
                </a:solidFill>
              </a:rPr>
              <a:t>근거가 된 경험</a:t>
            </a:r>
            <a:endParaRPr lang="en-US" sz="1200" dirty="0"/>
          </a:p>
        </p:txBody>
      </p:sp>
      <p:sp>
        <p:nvSpPr>
          <p:cNvPr id="23" name="Text 21"/>
          <p:cNvSpPr txBox="1"/>
          <p:nvPr/>
        </p:nvSpPr>
        <p:spPr>
          <a:xfrm>
            <a:off x="3995928" y="4800600"/>
            <a:ext cx="2697480" cy="1234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하이퍼네이처 · 로렌스 핼프린 발표</a:t>
            </a:r>
            <a:endParaRPr lang="en-US" sz="1300" dirty="0"/>
          </a:p>
          <a:p>
            <a:pPr marL="342900" indent="-342900">
              <a:spcAft>
                <a:spcPts val="400"/>
              </a:spcAft>
              <a:buSzPct val="100000"/>
              <a:buChar char="•"/>
            </a:pPr>
            <a:r>
              <a:rPr lang="en-US" sz="1300" dirty="0">
                <a:solidFill>
                  <a:schemeClr val="tx1"/>
                </a:solidFill>
              </a:rPr>
              <a:t>유리코 사이토의 돌봄 미학 발표</a:t>
            </a:r>
            <a:endParaRPr lang="en-US" sz="1300" dirty="0"/>
          </a:p>
          <a:p>
            <a:pPr marL="342900" indent="-342900">
              <a:spcAft>
                <a:spcPts val="400"/>
              </a:spcAft>
              <a:buSzPct val="100000"/>
              <a:buChar char="•"/>
            </a:pPr>
            <a:r>
              <a:rPr lang="en-US" sz="1300" dirty="0">
                <a:solidFill>
                  <a:schemeClr val="tx1"/>
                </a:solidFill>
              </a:rPr>
              <a:t>석사논문: 돌봄 미학으로 본 정원하기</a:t>
            </a:r>
            <a:endParaRPr lang="en-US" sz="1300" dirty="0"/>
          </a:p>
        </p:txBody>
      </p:sp>
      <p:sp>
        <p:nvSpPr>
          <p:cNvPr id="24" name="arrow"/>
          <p:cNvSpPr/>
          <p:nvPr/>
        </p:nvSpPr>
        <p:spPr>
          <a:xfrm>
            <a:off x="6894576" y="2084832"/>
            <a:ext cx="210312" cy="274320"/>
          </a:xfrm>
          <a:prstGeom prst="rightArrow">
            <a:avLst/>
          </a:prstGeom>
          <a:solidFill>
            <a:schemeClr val="accent2"/>
          </a:solidFill>
          <a:ln/>
        </p:spPr>
      </p:sp>
      <p:sp>
        <p:nvSpPr>
          <p:cNvPr id="25" name="stage-card"/>
          <p:cNvSpPr/>
          <p:nvPr/>
        </p:nvSpPr>
        <p:spPr>
          <a:xfrm>
            <a:off x="7123176" y="1783080"/>
            <a:ext cx="3063240" cy="4343400"/>
          </a:xfrm>
          <a:prstGeom prst="roundRect">
            <a:avLst>
              <a:gd name="adj" fmla="val 2388"/>
            </a:avLst>
          </a:prstGeom>
          <a:solidFill>
            <a:schemeClr val="bg2"/>
          </a:solidFill>
          <a:ln/>
        </p:spPr>
      </p:sp>
      <p:sp>
        <p:nvSpPr>
          <p:cNvPr id="26" name="stage-head"/>
          <p:cNvSpPr/>
          <p:nvPr/>
        </p:nvSpPr>
        <p:spPr>
          <a:xfrm>
            <a:off x="7123176" y="1783080"/>
            <a:ext cx="3063240" cy="868680"/>
          </a:xfrm>
          <a:prstGeom prst="roundRect">
            <a:avLst>
              <a:gd name="adj" fmla="val 8421"/>
            </a:avLst>
          </a:prstGeom>
          <a:solidFill>
            <a:schemeClr val="tx2"/>
          </a:solidFill>
          <a:ln/>
        </p:spPr>
      </p:sp>
      <p:sp>
        <p:nvSpPr>
          <p:cNvPr id="27" name="Text 25"/>
          <p:cNvSpPr txBox="1"/>
          <p:nvPr/>
        </p:nvSpPr>
        <p:spPr>
          <a:xfrm>
            <a:off x="7306056" y="1783080"/>
            <a:ext cx="731520" cy="868680"/>
          </a:xfrm>
          <a:prstGeom prst="rect">
            <a:avLst/>
          </a:prstGeom>
          <a:noFill/>
          <a:ln/>
        </p:spPr>
        <p:txBody>
          <a:bodyPr wrap="square" lIns="0" tIns="0" rIns="0" bIns="0" rtlCol="0" anchor="ctr"/>
          <a:lstStyle/>
          <a:p>
            <a:pPr indent="0" marL="0">
              <a:buNone/>
            </a:pPr>
            <a:r>
              <a:rPr lang="en-US" sz="3000" b="1" dirty="0">
                <a:solidFill>
                  <a:schemeClr val="accent3"/>
                </a:solidFill>
              </a:rPr>
              <a:t>03</a:t>
            </a:r>
            <a:endParaRPr lang="en-US" sz="3000" dirty="0"/>
          </a:p>
        </p:txBody>
      </p:sp>
      <p:sp>
        <p:nvSpPr>
          <p:cNvPr id="28" name="Text 26"/>
          <p:cNvSpPr txBox="1"/>
          <p:nvPr/>
        </p:nvSpPr>
        <p:spPr>
          <a:xfrm>
            <a:off x="8083296" y="1783080"/>
            <a:ext cx="1965960" cy="868680"/>
          </a:xfrm>
          <a:prstGeom prst="rect">
            <a:avLst/>
          </a:prstGeom>
          <a:noFill/>
          <a:ln/>
        </p:spPr>
        <p:txBody>
          <a:bodyPr wrap="square" lIns="0" tIns="0" rIns="0" bIns="0" rtlCol="0" anchor="ctr"/>
          <a:lstStyle/>
          <a:p>
            <a:pPr indent="0" marL="0">
              <a:buNone/>
            </a:pPr>
            <a:r>
              <a:rPr lang="en-US" sz="1800" b="1" dirty="0">
                <a:solidFill>
                  <a:schemeClr val="bg1"/>
                </a:solidFill>
              </a:rPr>
              <a:t>공유정원 현장</a:t>
            </a:r>
            <a:endParaRPr lang="en-US" sz="1400" dirty="0"/>
          </a:p>
          <a:p>
            <a:pPr indent="0" marL="0">
              <a:buNone/>
            </a:pPr>
            <a:r>
              <a:rPr lang="en-US" sz="1250" dirty="0">
                <a:solidFill>
                  <a:schemeClr val="bg1"/>
                </a:solidFill>
              </a:rPr>
              <a:t>서울가드닝클럽</a:t>
            </a:r>
            <a:endParaRPr lang="en-US" sz="1400" dirty="0"/>
          </a:p>
        </p:txBody>
      </p:sp>
      <p:sp>
        <p:nvSpPr>
          <p:cNvPr id="29" name="chip"/>
          <p:cNvSpPr/>
          <p:nvPr/>
        </p:nvSpPr>
        <p:spPr>
          <a:xfrm>
            <a:off x="7306056" y="2807208"/>
            <a:ext cx="2697480" cy="347472"/>
          </a:xfrm>
          <a:prstGeom prst="roundRect">
            <a:avLst>
              <a:gd name="adj" fmla="val 21053"/>
            </a:avLst>
          </a:prstGeom>
          <a:solidFill>
            <a:schemeClr val="accent2"/>
          </a:solidFill>
          <a:ln/>
        </p:spPr>
      </p:sp>
      <p:sp>
        <p:nvSpPr>
          <p:cNvPr id="30" name="Text 28"/>
          <p:cNvSpPr txBox="1"/>
          <p:nvPr/>
        </p:nvSpPr>
        <p:spPr>
          <a:xfrm>
            <a:off x="7306056" y="2807208"/>
            <a:ext cx="2697480" cy="347472"/>
          </a:xfrm>
          <a:prstGeom prst="rect">
            <a:avLst/>
          </a:prstGeom>
          <a:noFill/>
          <a:ln/>
        </p:spPr>
        <p:txBody>
          <a:bodyPr wrap="square" lIns="0" tIns="0" rIns="0" bIns="0" rtlCol="0" anchor="ctr"/>
          <a:lstStyle/>
          <a:p>
            <a:pPr algn="ctr" indent="0" marL="0">
              <a:buNone/>
            </a:pPr>
            <a:r>
              <a:rPr lang="en-US" sz="1400" b="1" dirty="0">
                <a:solidFill>
                  <a:schemeClr val="tx1"/>
                </a:solidFill>
              </a:rPr>
              <a:t>돌봄의 지속 조건</a:t>
            </a:r>
            <a:endParaRPr lang="en-US" sz="1400" dirty="0"/>
          </a:p>
        </p:txBody>
      </p:sp>
      <p:sp>
        <p:nvSpPr>
          <p:cNvPr id="31" name="Text 29"/>
          <p:cNvSpPr txBox="1"/>
          <p:nvPr/>
        </p:nvSpPr>
        <p:spPr>
          <a:xfrm>
            <a:off x="7306056" y="3291840"/>
            <a:ext cx="2697480" cy="1143000"/>
          </a:xfrm>
          <a:prstGeom prst="rect">
            <a:avLst/>
          </a:prstGeom>
          <a:noFill/>
          <a:ln/>
        </p:spPr>
        <p:txBody>
          <a:bodyPr wrap="square" lIns="0" tIns="0" rIns="0" bIns="0" rtlCol="0" anchor="t"/>
          <a:lstStyle/>
          <a:p>
            <a:pPr indent="0" marL="0">
              <a:buNone/>
            </a:pPr>
            <a:r>
              <a:rPr lang="en-US" sz="1600" b="1" dirty="0">
                <a:solidFill>
                  <a:schemeClr val="tx1"/>
                </a:solidFill>
              </a:rPr>
              <a:t>그 판단과 행동은 어떤 조건에서 이어지고, 어디에서 중단되는가?</a:t>
            </a:r>
            <a:endParaRPr lang="en-US" sz="1600" dirty="0"/>
          </a:p>
        </p:txBody>
      </p:sp>
      <p:sp>
        <p:nvSpPr>
          <p:cNvPr id="32" name="Text 30"/>
          <p:cNvSpPr txBox="1"/>
          <p:nvPr/>
        </p:nvSpPr>
        <p:spPr>
          <a:xfrm>
            <a:off x="7306056" y="4526280"/>
            <a:ext cx="2697480" cy="228600"/>
          </a:xfrm>
          <a:prstGeom prst="rect">
            <a:avLst/>
          </a:prstGeom>
          <a:noFill/>
          <a:ln/>
        </p:spPr>
        <p:txBody>
          <a:bodyPr wrap="square" lIns="0" tIns="0" rIns="0" bIns="0" rtlCol="0" anchor="t"/>
          <a:lstStyle/>
          <a:p>
            <a:pPr indent="0" marL="0">
              <a:buNone/>
            </a:pPr>
            <a:r>
              <a:rPr lang="en-US" sz="1200" b="1" dirty="0">
                <a:solidFill>
                  <a:schemeClr val="accent5"/>
                </a:solidFill>
              </a:rPr>
              <a:t>근거가 된 경험</a:t>
            </a:r>
            <a:endParaRPr lang="en-US" sz="1200" dirty="0"/>
          </a:p>
        </p:txBody>
      </p:sp>
      <p:sp>
        <p:nvSpPr>
          <p:cNvPr id="33" name="Text 31"/>
          <p:cNvSpPr txBox="1"/>
          <p:nvPr/>
        </p:nvSpPr>
        <p:spPr>
          <a:xfrm>
            <a:off x="7306056" y="4800600"/>
            <a:ext cx="2697480" cy="1234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공유정원 운영과 프로그램 기획</a:t>
            </a:r>
            <a:endParaRPr lang="en-US" sz="1300" dirty="0"/>
          </a:p>
          <a:p>
            <a:pPr marL="342900" indent="-342900">
              <a:spcAft>
                <a:spcPts val="400"/>
              </a:spcAft>
              <a:buSzPct val="100000"/>
              <a:buChar char="•"/>
            </a:pPr>
            <a:r>
              <a:rPr lang="en-US" sz="1300" dirty="0">
                <a:solidFill>
                  <a:schemeClr val="tx1"/>
                </a:solidFill>
              </a:rPr>
              <a:t>급수·도구·책임 등 구체적 조건 확인</a:t>
            </a:r>
            <a:endParaRPr lang="en-US" sz="1300" dirty="0"/>
          </a:p>
          <a:p>
            <a:pPr marL="342900" indent="-342900">
              <a:spcAft>
                <a:spcPts val="400"/>
              </a:spcAft>
              <a:buSzPct val="100000"/>
              <a:buChar char="•"/>
            </a:pPr>
            <a:r>
              <a:rPr lang="en-US" sz="1300" dirty="0">
                <a:solidFill>
                  <a:schemeClr val="tx1"/>
                </a:solidFill>
              </a:rPr>
              <a:t>프로그램 사이에 생기는 관리 공백</a:t>
            </a:r>
            <a:endParaRPr lang="en-US" sz="1300" dirty="0"/>
          </a:p>
        </p:txBody>
      </p:sp>
      <p:sp>
        <p:nvSpPr>
          <p:cNvPr id="34" name="callout"/>
          <p:cNvSpPr/>
          <p:nvPr/>
        </p:nvSpPr>
        <p:spPr>
          <a:xfrm>
            <a:off x="502920" y="6355080"/>
            <a:ext cx="9683496" cy="530352"/>
          </a:xfrm>
          <a:prstGeom prst="roundRect">
            <a:avLst>
              <a:gd name="adj" fmla="val 13793"/>
            </a:avLst>
          </a:prstGeom>
          <a:solidFill>
            <a:schemeClr val="accent3"/>
          </a:solidFill>
          <a:ln/>
        </p:spPr>
      </p:sp>
      <p:sp>
        <p:nvSpPr>
          <p:cNvPr id="35" name="Text 33"/>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연구의 초점: 정원사의 판단과 이를 뒷받침하는 운영 조건의 관계</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현장에서 발견한 과제</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04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공유정원 현장에서 ‘돌봄은 구체적인 조건에</a:t>
            </a:r>
            <a:endParaRPr lang="en-US" sz="2500" dirty="0"/>
          </a:p>
          <a:p>
            <a:pPr algn="ctr" indent="0" marL="0">
              <a:buNone/>
            </a:pPr>
            <a:r>
              <a:rPr lang="en-US" sz="2500" b="1" dirty="0">
                <a:solidFill>
                  <a:schemeClr val="tx1"/>
                </a:solidFill>
              </a:rPr>
              <a:t>달려 있다’는 점을 확인했습니다</a:t>
            </a:r>
            <a:endParaRPr lang="en-US" sz="2500" dirty="0"/>
          </a:p>
        </p:txBody>
      </p:sp>
      <p:pic>
        <p:nvPicPr>
          <p:cNvPr id="5" name="Image 0" descr="서울가드닝클럽 활동 참고 이미지">    </p:cNvPr>
          <p:cNvPicPr>
            <a:picLocks noChangeAspect="1"/>
          </p:cNvPicPr>
          <p:nvPr/>
        </p:nvPicPr>
        <p:blipFill>
          <a:blip r:embed="rId1"/>
          <a:stretch>
            <a:fillRect/>
          </a:stretch>
        </p:blipFill>
        <p:spPr>
          <a:xfrm>
            <a:off x="502920" y="1783080"/>
            <a:ext cx="4389120" cy="3054782"/>
          </a:xfrm>
          <a:prstGeom prst="rect">
            <a:avLst/>
          </a:prstGeom>
        </p:spPr>
      </p:pic>
      <p:sp>
        <p:nvSpPr>
          <p:cNvPr id="6" name="Text 3"/>
          <p:cNvSpPr txBox="1"/>
          <p:nvPr/>
        </p:nvSpPr>
        <p:spPr>
          <a:xfrm>
            <a:off x="502920" y="4892726"/>
            <a:ext cx="4389120" cy="228600"/>
          </a:xfrm>
          <a:prstGeom prst="rect">
            <a:avLst/>
          </a:prstGeom>
          <a:noFill/>
          <a:ln/>
        </p:spPr>
        <p:txBody>
          <a:bodyPr wrap="square" lIns="0" tIns="0" rIns="0" bIns="0" rtlCol="0" anchor="t"/>
          <a:lstStyle/>
          <a:p>
            <a:pPr indent="0" marL="0">
              <a:buNone/>
            </a:pPr>
            <a:r>
              <a:rPr lang="en-US" sz="1050" dirty="0">
                <a:solidFill>
                  <a:schemeClr val="accent5"/>
                </a:solidFill>
              </a:rPr>
              <a:t>서울가드닝클럽 활동을 소개하는 참고 이미지 (제안서 자료 발췌)</a:t>
            </a:r>
            <a:endParaRPr lang="en-US" sz="1050" dirty="0"/>
          </a:p>
        </p:txBody>
      </p:sp>
      <p:sp>
        <p:nvSpPr>
          <p:cNvPr id="7" name="quote-card"/>
          <p:cNvSpPr/>
          <p:nvPr/>
        </p:nvSpPr>
        <p:spPr>
          <a:xfrm>
            <a:off x="502920" y="5257800"/>
            <a:ext cx="4389120" cy="960120"/>
          </a:xfrm>
          <a:prstGeom prst="roundRect">
            <a:avLst>
              <a:gd name="adj" fmla="val 7619"/>
            </a:avLst>
          </a:prstGeom>
          <a:solidFill>
            <a:schemeClr val="accent4"/>
          </a:solidFill>
          <a:ln/>
        </p:spPr>
      </p:sp>
      <p:sp>
        <p:nvSpPr>
          <p:cNvPr id="8" name="Text 5"/>
          <p:cNvSpPr txBox="1"/>
          <p:nvPr/>
        </p:nvSpPr>
        <p:spPr>
          <a:xfrm>
            <a:off x="685800" y="5257800"/>
            <a:ext cx="4023360" cy="960120"/>
          </a:xfrm>
          <a:prstGeom prst="rect">
            <a:avLst/>
          </a:prstGeom>
          <a:noFill/>
          <a:ln/>
        </p:spPr>
        <p:txBody>
          <a:bodyPr wrap="square" lIns="0" tIns="0" rIns="0" bIns="0" rtlCol="0" anchor="ctr"/>
          <a:lstStyle/>
          <a:p>
            <a:pPr indent="0" marL="0">
              <a:buNone/>
            </a:pPr>
            <a:r>
              <a:rPr lang="en-US" sz="1500" b="1" dirty="0">
                <a:solidFill>
                  <a:schemeClr val="tx1"/>
                </a:solidFill>
              </a:rPr>
              <a:t>참여 의지가 충분해도 물을 쓰기 어렵고</a:t>
            </a:r>
            <a:endParaRPr lang="en-US" sz="1500" dirty="0"/>
          </a:p>
          <a:p>
            <a:pPr indent="0" marL="0">
              <a:buNone/>
            </a:pPr>
            <a:r>
              <a:rPr lang="en-US" sz="1500" b="1" dirty="0">
                <a:solidFill>
                  <a:schemeClr val="tx1"/>
                </a:solidFill>
              </a:rPr>
              <a:t>도구를 둘 곳이 없으면 활동은 쉽게 끊깁니다</a:t>
            </a:r>
            <a:endParaRPr lang="en-US" sz="1500" dirty="0"/>
          </a:p>
        </p:txBody>
      </p:sp>
      <p:sp>
        <p:nvSpPr>
          <p:cNvPr id="9" name="activity-row"/>
          <p:cNvSpPr/>
          <p:nvPr/>
        </p:nvSpPr>
        <p:spPr>
          <a:xfrm>
            <a:off x="5166360" y="1783080"/>
            <a:ext cx="5020056" cy="960120"/>
          </a:xfrm>
          <a:prstGeom prst="roundRect">
            <a:avLst>
              <a:gd name="adj" fmla="val 7619"/>
            </a:avLst>
          </a:prstGeom>
          <a:solidFill>
            <a:schemeClr val="bg2"/>
          </a:solidFill>
          <a:ln/>
        </p:spPr>
      </p:sp>
      <p:sp>
        <p:nvSpPr>
          <p:cNvPr id="10" name="badge"/>
          <p:cNvSpPr/>
          <p:nvPr/>
        </p:nvSpPr>
        <p:spPr>
          <a:xfrm>
            <a:off x="5349240" y="2029968"/>
            <a:ext cx="457200" cy="457200"/>
          </a:xfrm>
          <a:prstGeom prst="ellipse">
            <a:avLst/>
          </a:prstGeom>
          <a:solidFill>
            <a:schemeClr val="accent1"/>
          </a:solidFill>
          <a:ln/>
        </p:spPr>
      </p:sp>
      <p:sp>
        <p:nvSpPr>
          <p:cNvPr id="11" name="Text 8"/>
          <p:cNvSpPr txBox="1"/>
          <p:nvPr/>
        </p:nvSpPr>
        <p:spPr>
          <a:xfrm>
            <a:off x="5349240" y="20299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2" name="Text 9"/>
          <p:cNvSpPr txBox="1"/>
          <p:nvPr/>
        </p:nvSpPr>
        <p:spPr>
          <a:xfrm>
            <a:off x="5989320" y="1892808"/>
            <a:ext cx="4014216" cy="320040"/>
          </a:xfrm>
          <a:prstGeom prst="rect">
            <a:avLst/>
          </a:prstGeom>
          <a:noFill/>
          <a:ln/>
        </p:spPr>
        <p:txBody>
          <a:bodyPr wrap="square" lIns="0" tIns="0" rIns="0" bIns="0" rtlCol="0" anchor="ctr"/>
          <a:lstStyle/>
          <a:p>
            <a:pPr indent="0" marL="0">
              <a:buNone/>
            </a:pPr>
            <a:r>
              <a:rPr lang="en-US" sz="1600" b="1" dirty="0">
                <a:solidFill>
                  <a:schemeClr val="tx1"/>
                </a:solidFill>
              </a:rPr>
              <a:t>공유정원 현장 운영</a:t>
            </a:r>
            <a:endParaRPr lang="en-US" sz="1600" dirty="0"/>
          </a:p>
        </p:txBody>
      </p:sp>
      <p:sp>
        <p:nvSpPr>
          <p:cNvPr id="13" name="Text 10"/>
          <p:cNvSpPr txBox="1"/>
          <p:nvPr/>
        </p:nvSpPr>
        <p:spPr>
          <a:xfrm>
            <a:off x="5989320" y="2240280"/>
            <a:ext cx="4014216" cy="457200"/>
          </a:xfrm>
          <a:prstGeom prst="rect">
            <a:avLst/>
          </a:prstGeom>
          <a:noFill/>
          <a:ln/>
        </p:spPr>
        <p:txBody>
          <a:bodyPr wrap="square" lIns="0" tIns="0" rIns="0" bIns="0" rtlCol="0" anchor="t"/>
          <a:lstStyle/>
          <a:p>
            <a:pPr indent="0" marL="0">
              <a:buNone/>
            </a:pPr>
            <a:r>
              <a:rPr lang="en-US" sz="1300" dirty="0">
                <a:solidFill>
                  <a:schemeClr val="accent5"/>
                </a:solidFill>
              </a:rPr>
              <a:t>아이파크몰 가드닝클럽 · 식물 준비, 현장 배치, 수업 진행 지원</a:t>
            </a:r>
            <a:endParaRPr lang="en-US" sz="1300" dirty="0"/>
          </a:p>
        </p:txBody>
      </p:sp>
      <p:sp>
        <p:nvSpPr>
          <p:cNvPr id="14" name="activity-row"/>
          <p:cNvSpPr/>
          <p:nvPr/>
        </p:nvSpPr>
        <p:spPr>
          <a:xfrm>
            <a:off x="5166360" y="2880360"/>
            <a:ext cx="5020056" cy="960120"/>
          </a:xfrm>
          <a:prstGeom prst="roundRect">
            <a:avLst>
              <a:gd name="adj" fmla="val 7619"/>
            </a:avLst>
          </a:prstGeom>
          <a:solidFill>
            <a:schemeClr val="bg2"/>
          </a:solidFill>
          <a:ln/>
        </p:spPr>
      </p:sp>
      <p:sp>
        <p:nvSpPr>
          <p:cNvPr id="15" name="badge"/>
          <p:cNvSpPr/>
          <p:nvPr/>
        </p:nvSpPr>
        <p:spPr>
          <a:xfrm>
            <a:off x="5349240" y="3127248"/>
            <a:ext cx="457200" cy="457200"/>
          </a:xfrm>
          <a:prstGeom prst="ellipse">
            <a:avLst/>
          </a:prstGeom>
          <a:solidFill>
            <a:schemeClr val="accent1"/>
          </a:solidFill>
          <a:ln/>
        </p:spPr>
      </p:sp>
      <p:sp>
        <p:nvSpPr>
          <p:cNvPr id="16" name="Text 13"/>
          <p:cNvSpPr txBox="1"/>
          <p:nvPr/>
        </p:nvSpPr>
        <p:spPr>
          <a:xfrm>
            <a:off x="5349240" y="31272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Text 14"/>
          <p:cNvSpPr txBox="1"/>
          <p:nvPr/>
        </p:nvSpPr>
        <p:spPr>
          <a:xfrm>
            <a:off x="5989320" y="2990088"/>
            <a:ext cx="4014216" cy="320040"/>
          </a:xfrm>
          <a:prstGeom prst="rect">
            <a:avLst/>
          </a:prstGeom>
          <a:noFill/>
          <a:ln/>
        </p:spPr>
        <p:txBody>
          <a:bodyPr wrap="square" lIns="0" tIns="0" rIns="0" bIns="0" rtlCol="0" anchor="ctr"/>
          <a:lstStyle/>
          <a:p>
            <a:pPr indent="0" marL="0">
              <a:buNone/>
            </a:pPr>
            <a:r>
              <a:rPr lang="en-US" sz="1600" b="1" dirty="0">
                <a:solidFill>
                  <a:schemeClr val="tx1"/>
                </a:solidFill>
              </a:rPr>
              <a:t>교육·계절 프로그램 기획</a:t>
            </a:r>
            <a:endParaRPr lang="en-US" sz="1600" dirty="0"/>
          </a:p>
        </p:txBody>
      </p:sp>
      <p:sp>
        <p:nvSpPr>
          <p:cNvPr id="18" name="Text 15"/>
          <p:cNvSpPr txBox="1"/>
          <p:nvPr/>
        </p:nvSpPr>
        <p:spPr>
          <a:xfrm>
            <a:off x="5989320" y="3337560"/>
            <a:ext cx="4014216" cy="457200"/>
          </a:xfrm>
          <a:prstGeom prst="rect">
            <a:avLst/>
          </a:prstGeom>
          <a:noFill/>
          <a:ln/>
        </p:spPr>
        <p:txBody>
          <a:bodyPr wrap="square" lIns="0" tIns="0" rIns="0" bIns="0" rtlCol="0" anchor="t"/>
          <a:lstStyle/>
          <a:p>
            <a:pPr indent="0" marL="0">
              <a:buNone/>
            </a:pPr>
            <a:r>
              <a:rPr lang="en-US" sz="1300" dirty="0">
                <a:solidFill>
                  <a:schemeClr val="accent5"/>
                </a:solidFill>
              </a:rPr>
              <a:t>당수원팜 교육 및 계절 프로그램 기획 참여</a:t>
            </a:r>
            <a:endParaRPr lang="en-US" sz="1300" dirty="0"/>
          </a:p>
        </p:txBody>
      </p:sp>
      <p:sp>
        <p:nvSpPr>
          <p:cNvPr id="19" name="activity-row"/>
          <p:cNvSpPr/>
          <p:nvPr/>
        </p:nvSpPr>
        <p:spPr>
          <a:xfrm>
            <a:off x="5166360" y="3977640"/>
            <a:ext cx="5020056" cy="960120"/>
          </a:xfrm>
          <a:prstGeom prst="roundRect">
            <a:avLst>
              <a:gd name="adj" fmla="val 7619"/>
            </a:avLst>
          </a:prstGeom>
          <a:solidFill>
            <a:schemeClr val="bg2"/>
          </a:solidFill>
          <a:ln/>
        </p:spPr>
      </p:sp>
      <p:sp>
        <p:nvSpPr>
          <p:cNvPr id="20" name="badge"/>
          <p:cNvSpPr/>
          <p:nvPr/>
        </p:nvSpPr>
        <p:spPr>
          <a:xfrm>
            <a:off x="5349240" y="4224528"/>
            <a:ext cx="457200" cy="457200"/>
          </a:xfrm>
          <a:prstGeom prst="ellipse">
            <a:avLst/>
          </a:prstGeom>
          <a:solidFill>
            <a:schemeClr val="accent1"/>
          </a:solidFill>
          <a:ln/>
        </p:spPr>
      </p:sp>
      <p:sp>
        <p:nvSpPr>
          <p:cNvPr id="21" name="Text 18"/>
          <p:cNvSpPr txBox="1"/>
          <p:nvPr/>
        </p:nvSpPr>
        <p:spPr>
          <a:xfrm>
            <a:off x="5349240" y="42245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 19"/>
          <p:cNvSpPr txBox="1"/>
          <p:nvPr/>
        </p:nvSpPr>
        <p:spPr>
          <a:xfrm>
            <a:off x="5989320" y="4087368"/>
            <a:ext cx="4014216" cy="320040"/>
          </a:xfrm>
          <a:prstGeom prst="rect">
            <a:avLst/>
          </a:prstGeom>
          <a:noFill/>
          <a:ln/>
        </p:spPr>
        <p:txBody>
          <a:bodyPr wrap="square" lIns="0" tIns="0" rIns="0" bIns="0" rtlCol="0" anchor="ctr"/>
          <a:lstStyle/>
          <a:p>
            <a:pPr indent="0" marL="0">
              <a:buNone/>
            </a:pPr>
            <a:r>
              <a:rPr lang="en-US" sz="1600" b="1" dirty="0">
                <a:solidFill>
                  <a:schemeClr val="tx1"/>
                </a:solidFill>
              </a:rPr>
              <a:t>사례 조사와 콘텐츠 작성</a:t>
            </a:r>
            <a:endParaRPr lang="en-US" sz="1600" dirty="0"/>
          </a:p>
        </p:txBody>
      </p:sp>
      <p:sp>
        <p:nvSpPr>
          <p:cNvPr id="23" name="Text 20"/>
          <p:cNvSpPr txBox="1"/>
          <p:nvPr/>
        </p:nvSpPr>
        <p:spPr>
          <a:xfrm>
            <a:off x="5989320" y="4434840"/>
            <a:ext cx="4014216" cy="457200"/>
          </a:xfrm>
          <a:prstGeom prst="rect">
            <a:avLst/>
          </a:prstGeom>
          <a:noFill/>
          <a:ln/>
        </p:spPr>
        <p:txBody>
          <a:bodyPr wrap="square" lIns="0" tIns="0" rIns="0" bIns="0" rtlCol="0" anchor="t"/>
          <a:lstStyle/>
          <a:p>
            <a:pPr indent="0" marL="0">
              <a:buNone/>
            </a:pPr>
            <a:r>
              <a:rPr lang="en-US" sz="1300" dirty="0">
                <a:solidFill>
                  <a:schemeClr val="accent5"/>
                </a:solidFill>
              </a:rPr>
              <a:t>정원 사례 조사, 콘텐츠 및 제안서 작성</a:t>
            </a:r>
            <a:endParaRPr lang="en-US" sz="1300" dirty="0"/>
          </a:p>
        </p:txBody>
      </p:sp>
      <p:sp>
        <p:nvSpPr>
          <p:cNvPr id="24" name="condition-panel"/>
          <p:cNvSpPr/>
          <p:nvPr/>
        </p:nvSpPr>
        <p:spPr>
          <a:xfrm>
            <a:off x="5166360" y="5074920"/>
            <a:ext cx="5020056" cy="1143000"/>
          </a:xfrm>
          <a:prstGeom prst="roundRect">
            <a:avLst>
              <a:gd name="adj" fmla="val 6400"/>
            </a:avLst>
          </a:prstGeom>
          <a:solidFill>
            <a:schemeClr val="bg2"/>
          </a:solidFill>
          <a:ln/>
        </p:spPr>
      </p:sp>
      <p:sp>
        <p:nvSpPr>
          <p:cNvPr id="25" name="Text 22"/>
          <p:cNvSpPr txBox="1"/>
          <p:nvPr/>
        </p:nvSpPr>
        <p:spPr>
          <a:xfrm>
            <a:off x="5349240" y="5148072"/>
            <a:ext cx="2743200" cy="256032"/>
          </a:xfrm>
          <a:prstGeom prst="rect">
            <a:avLst/>
          </a:prstGeom>
          <a:noFill/>
          <a:ln/>
        </p:spPr>
        <p:txBody>
          <a:bodyPr wrap="square" lIns="0" tIns="0" rIns="0" bIns="0" rtlCol="0" anchor="t"/>
          <a:lstStyle/>
          <a:p>
            <a:pPr indent="0" marL="0">
              <a:buNone/>
            </a:pPr>
            <a:r>
              <a:rPr lang="en-US" sz="1200" b="1" dirty="0">
                <a:solidFill>
                  <a:schemeClr val="accent5"/>
                </a:solidFill>
              </a:rPr>
              <a:t>현장에서 확인한 조건</a:t>
            </a:r>
            <a:endParaRPr lang="en-US" sz="1200" dirty="0"/>
          </a:p>
        </p:txBody>
      </p:sp>
      <p:sp>
        <p:nvSpPr>
          <p:cNvPr id="26" name="chip"/>
          <p:cNvSpPr/>
          <p:nvPr/>
        </p:nvSpPr>
        <p:spPr>
          <a:xfrm>
            <a:off x="5349240" y="5468112"/>
            <a:ext cx="1490472" cy="329184"/>
          </a:xfrm>
          <a:prstGeom prst="roundRect">
            <a:avLst>
              <a:gd name="adj" fmla="val 22222"/>
            </a:avLst>
          </a:prstGeom>
          <a:solidFill>
            <a:schemeClr val="accent3"/>
          </a:solidFill>
          <a:ln/>
        </p:spPr>
      </p:sp>
      <p:sp>
        <p:nvSpPr>
          <p:cNvPr id="27" name="Text 24"/>
          <p:cNvSpPr txBox="1"/>
          <p:nvPr/>
        </p:nvSpPr>
        <p:spPr>
          <a:xfrm>
            <a:off x="5349240" y="5468112"/>
            <a:ext cx="1490472" cy="329184"/>
          </a:xfrm>
          <a:prstGeom prst="rect">
            <a:avLst/>
          </a:prstGeom>
          <a:noFill/>
          <a:ln/>
        </p:spPr>
        <p:txBody>
          <a:bodyPr wrap="square" lIns="0" tIns="0" rIns="0" bIns="0" rtlCol="0" anchor="ctr"/>
          <a:lstStyle/>
          <a:p>
            <a:pPr algn="ctr" indent="0" marL="0">
              <a:buNone/>
            </a:pPr>
            <a:r>
              <a:rPr lang="en-US" sz="1300" b="1" dirty="0">
                <a:solidFill>
                  <a:schemeClr val="tx1"/>
                </a:solidFill>
              </a:rPr>
              <a:t>급수 위치</a:t>
            </a:r>
            <a:endParaRPr lang="en-US" sz="1300" dirty="0"/>
          </a:p>
        </p:txBody>
      </p:sp>
      <p:sp>
        <p:nvSpPr>
          <p:cNvPr id="28" name="chip"/>
          <p:cNvSpPr/>
          <p:nvPr/>
        </p:nvSpPr>
        <p:spPr>
          <a:xfrm>
            <a:off x="6931152" y="5468112"/>
            <a:ext cx="1490472" cy="329184"/>
          </a:xfrm>
          <a:prstGeom prst="roundRect">
            <a:avLst>
              <a:gd name="adj" fmla="val 22222"/>
            </a:avLst>
          </a:prstGeom>
          <a:solidFill>
            <a:schemeClr val="accent3"/>
          </a:solidFill>
          <a:ln/>
        </p:spPr>
      </p:sp>
      <p:sp>
        <p:nvSpPr>
          <p:cNvPr id="29" name="Text 26"/>
          <p:cNvSpPr txBox="1"/>
          <p:nvPr/>
        </p:nvSpPr>
        <p:spPr>
          <a:xfrm>
            <a:off x="6931152" y="5468112"/>
            <a:ext cx="1490472" cy="329184"/>
          </a:xfrm>
          <a:prstGeom prst="rect">
            <a:avLst/>
          </a:prstGeom>
          <a:noFill/>
          <a:ln/>
        </p:spPr>
        <p:txBody>
          <a:bodyPr wrap="square" lIns="0" tIns="0" rIns="0" bIns="0" rtlCol="0" anchor="ctr"/>
          <a:lstStyle/>
          <a:p>
            <a:pPr algn="ctr" indent="0" marL="0">
              <a:buNone/>
            </a:pPr>
            <a:r>
              <a:rPr lang="en-US" sz="1300" b="1" dirty="0">
                <a:solidFill>
                  <a:schemeClr val="tx1"/>
                </a:solidFill>
              </a:rPr>
              <a:t>도구 보관</a:t>
            </a:r>
            <a:endParaRPr lang="en-US" sz="1300" dirty="0"/>
          </a:p>
        </p:txBody>
      </p:sp>
      <p:sp>
        <p:nvSpPr>
          <p:cNvPr id="30" name="chip"/>
          <p:cNvSpPr/>
          <p:nvPr/>
        </p:nvSpPr>
        <p:spPr>
          <a:xfrm>
            <a:off x="8513064" y="5468112"/>
            <a:ext cx="1490472" cy="329184"/>
          </a:xfrm>
          <a:prstGeom prst="roundRect">
            <a:avLst>
              <a:gd name="adj" fmla="val 22222"/>
            </a:avLst>
          </a:prstGeom>
          <a:solidFill>
            <a:schemeClr val="accent3"/>
          </a:solidFill>
          <a:ln/>
        </p:spPr>
      </p:sp>
      <p:sp>
        <p:nvSpPr>
          <p:cNvPr id="31" name="Text 28"/>
          <p:cNvSpPr txBox="1"/>
          <p:nvPr/>
        </p:nvSpPr>
        <p:spPr>
          <a:xfrm>
            <a:off x="8513064" y="5468112"/>
            <a:ext cx="1490472" cy="329184"/>
          </a:xfrm>
          <a:prstGeom prst="rect">
            <a:avLst/>
          </a:prstGeom>
          <a:noFill/>
          <a:ln/>
        </p:spPr>
        <p:txBody>
          <a:bodyPr wrap="square" lIns="0" tIns="0" rIns="0" bIns="0" rtlCol="0" anchor="ctr"/>
          <a:lstStyle/>
          <a:p>
            <a:pPr algn="ctr" indent="0" marL="0">
              <a:buNone/>
            </a:pPr>
            <a:r>
              <a:rPr lang="en-US" sz="1300" b="1" dirty="0">
                <a:solidFill>
                  <a:schemeClr val="tx1"/>
                </a:solidFill>
              </a:rPr>
              <a:t>관리 책임·역할</a:t>
            </a:r>
            <a:endParaRPr lang="en-US" sz="1300" dirty="0"/>
          </a:p>
        </p:txBody>
      </p:sp>
      <p:sp>
        <p:nvSpPr>
          <p:cNvPr id="32" name="Text 29"/>
          <p:cNvSpPr txBox="1"/>
          <p:nvPr/>
        </p:nvSpPr>
        <p:spPr>
          <a:xfrm>
            <a:off x="5349240" y="5870448"/>
            <a:ext cx="4654296" cy="274320"/>
          </a:xfrm>
          <a:prstGeom prst="rect">
            <a:avLst/>
          </a:prstGeom>
          <a:noFill/>
          <a:ln/>
        </p:spPr>
        <p:txBody>
          <a:bodyPr wrap="square" lIns="0" tIns="0" rIns="0" bIns="0" rtlCol="0" anchor="t"/>
          <a:lstStyle/>
          <a:p>
            <a:pPr indent="0" marL="0">
              <a:buNone/>
            </a:pPr>
            <a:r>
              <a:rPr lang="en-US" sz="1300" dirty="0">
                <a:solidFill>
                  <a:schemeClr val="tx1"/>
                </a:solidFill>
              </a:rPr>
              <a:t>작은 시설과 명확한 역할 분담은 참여자의 부담을 줄입니다</a:t>
            </a:r>
            <a:endParaRPr lang="en-US" sz="1300" dirty="0"/>
          </a:p>
        </p:txBody>
      </p:sp>
      <p:sp>
        <p:nvSpPr>
          <p:cNvPr id="33" name="callout"/>
          <p:cNvSpPr/>
          <p:nvPr/>
        </p:nvSpPr>
        <p:spPr>
          <a:xfrm>
            <a:off x="502920" y="6355080"/>
            <a:ext cx="9683496" cy="530352"/>
          </a:xfrm>
          <a:prstGeom prst="roundRect">
            <a:avLst>
              <a:gd name="adj" fmla="val 13793"/>
            </a:avLst>
          </a:prstGeom>
          <a:solidFill>
            <a:schemeClr val="accent3"/>
          </a:solidFill>
          <a:ln/>
        </p:spPr>
      </p:sp>
      <p:sp>
        <p:nvSpPr>
          <p:cNvPr id="34" name="Text 31"/>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남은 질문: 프로그램이 없는 날, 누가 어떻게 정원을 돌보는가?</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문제의식과 연구 질문</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05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정원은 조성으로 끝나지 않고, 돌보는 사람의</a:t>
            </a:r>
            <a:endParaRPr lang="en-US" sz="2500" dirty="0"/>
          </a:p>
          <a:p>
            <a:pPr algn="ctr" indent="0" marL="0">
              <a:buNone/>
            </a:pPr>
            <a:r>
              <a:rPr lang="en-US" sz="2500" b="1" dirty="0">
                <a:solidFill>
                  <a:schemeClr val="tx1"/>
                </a:solidFill>
              </a:rPr>
              <a:t>판단과 조건 속에서 계속 만들어집니다</a:t>
            </a:r>
            <a:endParaRPr lang="en-US" sz="2500" dirty="0"/>
          </a:p>
        </p:txBody>
      </p:sp>
      <p:sp>
        <p:nvSpPr>
          <p:cNvPr id="5" name="title-card"/>
          <p:cNvSpPr/>
          <p:nvPr/>
        </p:nvSpPr>
        <p:spPr>
          <a:xfrm>
            <a:off x="502920" y="1783080"/>
            <a:ext cx="3931920" cy="4343400"/>
          </a:xfrm>
          <a:prstGeom prst="roundRect">
            <a:avLst>
              <a:gd name="adj" fmla="val 1860"/>
            </a:avLst>
          </a:prstGeom>
          <a:solidFill>
            <a:schemeClr val="tx2"/>
          </a:solidFill>
          <a:ln/>
        </p:spPr>
      </p:sp>
      <p:sp>
        <p:nvSpPr>
          <p:cNvPr id="6" name="Text 4"/>
          <p:cNvSpPr txBox="1"/>
          <p:nvPr/>
        </p:nvSpPr>
        <p:spPr>
          <a:xfrm>
            <a:off x="777240" y="2011680"/>
            <a:ext cx="3383280" cy="274320"/>
          </a:xfrm>
          <a:prstGeom prst="rect">
            <a:avLst/>
          </a:prstGeom>
          <a:noFill/>
          <a:ln/>
        </p:spPr>
        <p:txBody>
          <a:bodyPr wrap="square" lIns="0" tIns="0" rIns="0" bIns="0" rtlCol="0" anchor="t"/>
          <a:lstStyle/>
          <a:p>
            <a:pPr indent="0" marL="0">
              <a:buNone/>
            </a:pPr>
            <a:r>
              <a:rPr lang="en-US" sz="1300" b="1" dirty="0">
                <a:solidFill>
                  <a:schemeClr val="accent2"/>
                </a:solidFill>
              </a:rPr>
              <a:t>잠정 연구 제목</a:t>
            </a:r>
            <a:endParaRPr lang="en-US" sz="1300" dirty="0"/>
          </a:p>
        </p:txBody>
      </p:sp>
      <p:sp>
        <p:nvSpPr>
          <p:cNvPr id="7" name="Text 5"/>
          <p:cNvSpPr txBox="1"/>
          <p:nvPr/>
        </p:nvSpPr>
        <p:spPr>
          <a:xfrm>
            <a:off x="777240" y="2331720"/>
            <a:ext cx="3383280" cy="1005840"/>
          </a:xfrm>
          <a:prstGeom prst="rect">
            <a:avLst/>
          </a:prstGeom>
          <a:noFill/>
          <a:ln/>
        </p:spPr>
        <p:txBody>
          <a:bodyPr wrap="square" lIns="0" tIns="0" rIns="0" bIns="0" rtlCol="0" anchor="t"/>
          <a:lstStyle/>
          <a:p>
            <a:pPr indent="0" marL="0">
              <a:buNone/>
            </a:pPr>
            <a:r>
              <a:rPr lang="en-US" sz="2800" b="1" dirty="0">
                <a:solidFill>
                  <a:schemeClr val="bg1"/>
                </a:solidFill>
              </a:rPr>
              <a:t>정원은 어떻게</a:t>
            </a:r>
            <a:endParaRPr lang="en-US" sz="2800" dirty="0"/>
          </a:p>
          <a:p>
            <a:pPr indent="0" marL="0">
              <a:buNone/>
            </a:pPr>
            <a:r>
              <a:rPr lang="en-US" sz="2800" b="1" dirty="0">
                <a:solidFill>
                  <a:schemeClr val="bg1"/>
                </a:solidFill>
              </a:rPr>
              <a:t>지속되는가</a:t>
            </a:r>
            <a:endParaRPr lang="en-US" sz="2800" dirty="0"/>
          </a:p>
        </p:txBody>
      </p:sp>
      <p:sp>
        <p:nvSpPr>
          <p:cNvPr id="8" name="Text 6"/>
          <p:cNvSpPr txBox="1"/>
          <p:nvPr/>
        </p:nvSpPr>
        <p:spPr>
          <a:xfrm>
            <a:off x="777240" y="3429000"/>
            <a:ext cx="3383280" cy="731520"/>
          </a:xfrm>
          <a:prstGeom prst="rect">
            <a:avLst/>
          </a:prstGeom>
          <a:noFill/>
          <a:ln/>
        </p:spPr>
        <p:txBody>
          <a:bodyPr wrap="square" lIns="0" tIns="0" rIns="0" bIns="0" rtlCol="0" anchor="t"/>
          <a:lstStyle/>
          <a:p>
            <a:pPr indent="0" marL="0">
              <a:buNone/>
            </a:pPr>
            <a:r>
              <a:rPr lang="en-US" sz="1700" b="1" dirty="0">
                <a:solidFill>
                  <a:schemeClr val="accent3"/>
                </a:solidFill>
              </a:rPr>
              <a:t>도시정원의 조성 이후</a:t>
            </a:r>
            <a:endParaRPr lang="en-US" sz="1700" dirty="0"/>
          </a:p>
          <a:p>
            <a:pPr indent="0" marL="0">
              <a:buNone/>
            </a:pPr>
            <a:r>
              <a:rPr lang="en-US" sz="1700" b="1" dirty="0">
                <a:solidFill>
                  <a:schemeClr val="accent3"/>
                </a:solidFill>
              </a:rPr>
              <a:t>돌봄과 지속가능성</a:t>
            </a:r>
            <a:endParaRPr lang="en-US" sz="1700" dirty="0"/>
          </a:p>
        </p:txBody>
      </p:sp>
      <p:sp>
        <p:nvSpPr>
          <p:cNvPr id="9" name="Text 7"/>
          <p:cNvSpPr txBox="1"/>
          <p:nvPr/>
        </p:nvSpPr>
        <p:spPr>
          <a:xfrm>
            <a:off x="777240" y="4389120"/>
            <a:ext cx="3383280" cy="256032"/>
          </a:xfrm>
          <a:prstGeom prst="rect">
            <a:avLst/>
          </a:prstGeom>
          <a:noFill/>
          <a:ln/>
        </p:spPr>
        <p:txBody>
          <a:bodyPr wrap="square" lIns="0" tIns="0" rIns="0" bIns="0" rtlCol="0" anchor="t"/>
          <a:lstStyle/>
          <a:p>
            <a:pPr indent="0" marL="0">
              <a:buNone/>
            </a:pPr>
            <a:r>
              <a:rPr lang="en-US" sz="1200" b="1" dirty="0">
                <a:solidFill>
                  <a:schemeClr val="accent2"/>
                </a:solidFill>
              </a:rPr>
              <a:t>이론적 토대</a:t>
            </a:r>
            <a:endParaRPr lang="en-US" sz="1200" dirty="0"/>
          </a:p>
        </p:txBody>
      </p:sp>
      <p:sp>
        <p:nvSpPr>
          <p:cNvPr id="10" name="Text 8"/>
          <p:cNvSpPr txBox="1"/>
          <p:nvPr/>
        </p:nvSpPr>
        <p:spPr>
          <a:xfrm>
            <a:off x="777240" y="4681728"/>
            <a:ext cx="3429000" cy="12801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bg1"/>
                </a:solidFill>
              </a:rPr>
              <a:t>Saito (2022) Aesthetics of Care</a:t>
            </a:r>
            <a:endParaRPr lang="en-US" sz="1200" dirty="0"/>
          </a:p>
          <a:p>
            <a:pPr marL="342900" indent="-342900">
              <a:spcAft>
                <a:spcPts val="300"/>
              </a:spcAft>
              <a:buSzPct val="100000"/>
              <a:buChar char="•"/>
            </a:pPr>
            <a:r>
              <a:rPr lang="en-US" sz="1200" dirty="0">
                <a:solidFill>
                  <a:schemeClr val="bg1"/>
                </a:solidFill>
              </a:rPr>
              <a:t>Puig de la Bellacasa (2017) Matters of Care</a:t>
            </a:r>
            <a:endParaRPr lang="en-US" sz="1200" dirty="0"/>
          </a:p>
          <a:p>
            <a:pPr marL="342900" indent="-342900">
              <a:spcAft>
                <a:spcPts val="300"/>
              </a:spcAft>
              <a:buSzPct val="100000"/>
              <a:buChar char="•"/>
            </a:pPr>
            <a:r>
              <a:rPr lang="en-US" sz="1200" dirty="0">
                <a:solidFill>
                  <a:schemeClr val="bg1"/>
                </a:solidFill>
              </a:rPr>
              <a:t>Raxworthy (2018) Overgrown</a:t>
            </a:r>
            <a:endParaRPr lang="en-US" sz="1200" dirty="0"/>
          </a:p>
          <a:p>
            <a:pPr marL="342900" indent="-342900">
              <a:spcAft>
                <a:spcPts val="300"/>
              </a:spcAft>
              <a:buSzPct val="100000"/>
              <a:buChar char="•"/>
            </a:pPr>
            <a:r>
              <a:rPr lang="en-US" sz="1200" dirty="0">
                <a:solidFill>
                  <a:schemeClr val="bg1"/>
                </a:solidFill>
              </a:rPr>
              <a:t>Peçanha Enqvist et al. (2018) Stewardship</a:t>
            </a:r>
            <a:endParaRPr lang="en-US" sz="1200" dirty="0"/>
          </a:p>
        </p:txBody>
      </p:sp>
      <p:sp>
        <p:nvSpPr>
          <p:cNvPr id="11" name="Text 9"/>
          <p:cNvSpPr txBox="1"/>
          <p:nvPr/>
        </p:nvSpPr>
        <p:spPr>
          <a:xfrm>
            <a:off x="4709160" y="1783080"/>
            <a:ext cx="5477256" cy="365760"/>
          </a:xfrm>
          <a:prstGeom prst="rect">
            <a:avLst/>
          </a:prstGeom>
          <a:noFill/>
          <a:ln/>
        </p:spPr>
        <p:txBody>
          <a:bodyPr wrap="square" lIns="0" tIns="0" rIns="0" bIns="0" rtlCol="0" anchor="ctr"/>
          <a:lstStyle/>
          <a:p>
            <a:pPr indent="0" marL="0">
              <a:buNone/>
            </a:pPr>
            <a:r>
              <a:rPr lang="en-US" sz="1800" b="1" dirty="0">
                <a:solidFill>
                  <a:schemeClr val="accent1"/>
                </a:solidFill>
              </a:rPr>
              <a:t>세 가지 연구 질문</a:t>
            </a:r>
            <a:endParaRPr lang="en-US" sz="1800" dirty="0"/>
          </a:p>
        </p:txBody>
      </p:sp>
      <p:sp>
        <p:nvSpPr>
          <p:cNvPr id="12" name="question-row"/>
          <p:cNvSpPr/>
          <p:nvPr/>
        </p:nvSpPr>
        <p:spPr>
          <a:xfrm>
            <a:off x="4709160" y="2240280"/>
            <a:ext cx="5477256" cy="1188720"/>
          </a:xfrm>
          <a:prstGeom prst="roundRect">
            <a:avLst>
              <a:gd name="adj" fmla="val 6154"/>
            </a:avLst>
          </a:prstGeom>
          <a:solidFill>
            <a:schemeClr val="bg2"/>
          </a:solidFill>
          <a:ln/>
        </p:spPr>
      </p:sp>
      <p:sp>
        <p:nvSpPr>
          <p:cNvPr id="13" name="badge"/>
          <p:cNvSpPr/>
          <p:nvPr/>
        </p:nvSpPr>
        <p:spPr>
          <a:xfrm>
            <a:off x="4892040" y="2587752"/>
            <a:ext cx="493776" cy="493776"/>
          </a:xfrm>
          <a:prstGeom prst="ellipse">
            <a:avLst/>
          </a:prstGeom>
          <a:solidFill>
            <a:schemeClr val="accent1"/>
          </a:solidFill>
          <a:ln/>
        </p:spPr>
      </p:sp>
      <p:sp>
        <p:nvSpPr>
          <p:cNvPr id="14" name="Text 12"/>
          <p:cNvSpPr txBox="1"/>
          <p:nvPr/>
        </p:nvSpPr>
        <p:spPr>
          <a:xfrm>
            <a:off x="4892040" y="2587752"/>
            <a:ext cx="493776" cy="493776"/>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5" name="Text 13"/>
          <p:cNvSpPr txBox="1"/>
          <p:nvPr/>
        </p:nvSpPr>
        <p:spPr>
          <a:xfrm>
            <a:off x="5577840" y="2240280"/>
            <a:ext cx="4425696" cy="1188720"/>
          </a:xfrm>
          <a:prstGeom prst="rect">
            <a:avLst/>
          </a:prstGeom>
          <a:noFill/>
          <a:ln/>
        </p:spPr>
        <p:txBody>
          <a:bodyPr wrap="square" lIns="0" tIns="0" rIns="0" bIns="0" rtlCol="0" anchor="ctr"/>
          <a:lstStyle/>
          <a:p>
            <a:pPr indent="0" marL="0">
              <a:buNone/>
            </a:pPr>
            <a:r>
              <a:rPr lang="en-US" sz="1300" b="1" dirty="0">
                <a:solidFill>
                  <a:schemeClr val="accent1"/>
                </a:solidFill>
              </a:rPr>
              <a:t>판단·기준</a:t>
            </a:r>
            <a:endParaRPr lang="en-US" sz="1400" dirty="0"/>
          </a:p>
          <a:p>
            <a:pPr indent="0" marL="0">
              <a:buNone/>
            </a:pPr>
            <a:r>
              <a:rPr lang="en-US" sz="1500" b="1" dirty="0">
                <a:solidFill>
                  <a:schemeClr val="tx1"/>
                </a:solidFill>
              </a:rPr>
              <a:t>돌보는 사람들은 식물과 공간의 변화를 무엇으로 알아차리고, 어떤 기준으로 대응하는가?</a:t>
            </a:r>
            <a:endParaRPr lang="en-US" sz="1400" dirty="0"/>
          </a:p>
        </p:txBody>
      </p:sp>
      <p:sp>
        <p:nvSpPr>
          <p:cNvPr id="16" name="question-row"/>
          <p:cNvSpPr/>
          <p:nvPr/>
        </p:nvSpPr>
        <p:spPr>
          <a:xfrm>
            <a:off x="4709160" y="3566160"/>
            <a:ext cx="5477256" cy="1188720"/>
          </a:xfrm>
          <a:prstGeom prst="roundRect">
            <a:avLst>
              <a:gd name="adj" fmla="val 6154"/>
            </a:avLst>
          </a:prstGeom>
          <a:solidFill>
            <a:schemeClr val="bg2"/>
          </a:solidFill>
          <a:ln/>
        </p:spPr>
      </p:sp>
      <p:sp>
        <p:nvSpPr>
          <p:cNvPr id="17" name="badge"/>
          <p:cNvSpPr/>
          <p:nvPr/>
        </p:nvSpPr>
        <p:spPr>
          <a:xfrm>
            <a:off x="4892040" y="3913632"/>
            <a:ext cx="493776" cy="493776"/>
          </a:xfrm>
          <a:prstGeom prst="ellipse">
            <a:avLst/>
          </a:prstGeom>
          <a:solidFill>
            <a:schemeClr val="accent1"/>
          </a:solidFill>
          <a:ln/>
        </p:spPr>
      </p:sp>
      <p:sp>
        <p:nvSpPr>
          <p:cNvPr id="18" name="Text 16"/>
          <p:cNvSpPr txBox="1"/>
          <p:nvPr/>
        </p:nvSpPr>
        <p:spPr>
          <a:xfrm>
            <a:off x="4892040" y="3913632"/>
            <a:ext cx="493776" cy="493776"/>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9" name="Text 17"/>
          <p:cNvSpPr txBox="1"/>
          <p:nvPr/>
        </p:nvSpPr>
        <p:spPr>
          <a:xfrm>
            <a:off x="5577840" y="3566160"/>
            <a:ext cx="4425696" cy="1188720"/>
          </a:xfrm>
          <a:prstGeom prst="rect">
            <a:avLst/>
          </a:prstGeom>
          <a:noFill/>
          <a:ln/>
        </p:spPr>
        <p:txBody>
          <a:bodyPr wrap="square" lIns="0" tIns="0" rIns="0" bIns="0" rtlCol="0" anchor="ctr"/>
          <a:lstStyle/>
          <a:p>
            <a:pPr indent="0" marL="0">
              <a:buNone/>
            </a:pPr>
            <a:r>
              <a:rPr lang="en-US" sz="1300" b="1" dirty="0">
                <a:solidFill>
                  <a:schemeClr val="accent1"/>
                </a:solidFill>
              </a:rPr>
              <a:t>경험·지식</a:t>
            </a:r>
            <a:endParaRPr lang="en-US" sz="1400" dirty="0"/>
          </a:p>
          <a:p>
            <a:pPr indent="0" marL="0">
              <a:buNone/>
            </a:pPr>
            <a:r>
              <a:rPr lang="en-US" sz="1500" b="1" dirty="0">
                <a:solidFill>
                  <a:schemeClr val="tx1"/>
                </a:solidFill>
              </a:rPr>
              <a:t>개인의 경험과 지식은 공동 작업 속에서 어떻게 공유되거나 충돌하는가?</a:t>
            </a:r>
            <a:endParaRPr lang="en-US" sz="1400" dirty="0"/>
          </a:p>
        </p:txBody>
      </p:sp>
      <p:sp>
        <p:nvSpPr>
          <p:cNvPr id="20" name="question-row"/>
          <p:cNvSpPr/>
          <p:nvPr/>
        </p:nvSpPr>
        <p:spPr>
          <a:xfrm>
            <a:off x="4709160" y="4892040"/>
            <a:ext cx="5477256" cy="1188720"/>
          </a:xfrm>
          <a:prstGeom prst="roundRect">
            <a:avLst>
              <a:gd name="adj" fmla="val 6154"/>
            </a:avLst>
          </a:prstGeom>
          <a:solidFill>
            <a:schemeClr val="bg2"/>
          </a:solidFill>
          <a:ln/>
        </p:spPr>
      </p:sp>
      <p:sp>
        <p:nvSpPr>
          <p:cNvPr id="21" name="badge"/>
          <p:cNvSpPr/>
          <p:nvPr/>
        </p:nvSpPr>
        <p:spPr>
          <a:xfrm>
            <a:off x="4892040" y="5239512"/>
            <a:ext cx="493776" cy="493776"/>
          </a:xfrm>
          <a:prstGeom prst="ellipse">
            <a:avLst/>
          </a:prstGeom>
          <a:solidFill>
            <a:schemeClr val="accent1"/>
          </a:solidFill>
          <a:ln/>
        </p:spPr>
      </p:sp>
      <p:sp>
        <p:nvSpPr>
          <p:cNvPr id="22" name="Text 20"/>
          <p:cNvSpPr txBox="1"/>
          <p:nvPr/>
        </p:nvSpPr>
        <p:spPr>
          <a:xfrm>
            <a:off x="4892040" y="5239512"/>
            <a:ext cx="493776" cy="493776"/>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3" name="Text 21"/>
          <p:cNvSpPr txBox="1"/>
          <p:nvPr/>
        </p:nvSpPr>
        <p:spPr>
          <a:xfrm>
            <a:off x="5577840" y="4892040"/>
            <a:ext cx="4425696" cy="1188720"/>
          </a:xfrm>
          <a:prstGeom prst="rect">
            <a:avLst/>
          </a:prstGeom>
          <a:noFill/>
          <a:ln/>
        </p:spPr>
        <p:txBody>
          <a:bodyPr wrap="square" lIns="0" tIns="0" rIns="0" bIns="0" rtlCol="0" anchor="ctr"/>
          <a:lstStyle/>
          <a:p>
            <a:pPr indent="0" marL="0">
              <a:buNone/>
            </a:pPr>
            <a:r>
              <a:rPr lang="en-US" sz="1300" b="1" dirty="0">
                <a:solidFill>
                  <a:schemeClr val="accent1"/>
                </a:solidFill>
              </a:rPr>
              <a:t>공간·운영</a:t>
            </a:r>
            <a:endParaRPr lang="en-US" sz="1400" dirty="0"/>
          </a:p>
          <a:p>
            <a:pPr indent="0" marL="0">
              <a:buNone/>
            </a:pPr>
            <a:r>
              <a:rPr lang="en-US" sz="1500" b="1" dirty="0">
                <a:solidFill>
                  <a:schemeClr val="tx1"/>
                </a:solidFill>
              </a:rPr>
              <a:t>이 실천이 몇 차례 프로그램으로 끝나지 않고 이어지려면 어떤 공간·시설·운영 체계가 필요한가?</a:t>
            </a:r>
            <a:endParaRPr lang="en-US" sz="1400" dirty="0"/>
          </a:p>
        </p:txBody>
      </p:sp>
      <p:sp>
        <p:nvSpPr>
          <p:cNvPr id="24" name="callout"/>
          <p:cNvSpPr/>
          <p:nvPr/>
        </p:nvSpPr>
        <p:spPr>
          <a:xfrm>
            <a:off x="502920" y="6355080"/>
            <a:ext cx="9683496" cy="530352"/>
          </a:xfrm>
          <a:prstGeom prst="roundRect">
            <a:avLst>
              <a:gd name="adj" fmla="val 13793"/>
            </a:avLst>
          </a:prstGeom>
          <a:solidFill>
            <a:schemeClr val="accent3"/>
          </a:solidFill>
          <a:ln/>
        </p:spPr>
      </p:sp>
      <p:sp>
        <p:nvSpPr>
          <p:cNvPr id="25" name="Text 23"/>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참여자의 헌신만이 아니라, 행동을 가능하게 하거나 어렵게 하는 조건까지 설명합니다</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연구 주제</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06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개념을 세우고, 현장의 판단과 운영 조건을</a:t>
            </a:r>
            <a:endParaRPr lang="en-US" sz="2500" dirty="0"/>
          </a:p>
          <a:p>
            <a:pPr algn="ctr" indent="0" marL="0">
              <a:buNone/>
            </a:pPr>
            <a:r>
              <a:rPr lang="en-US" sz="2500" b="1" dirty="0">
                <a:solidFill>
                  <a:schemeClr val="tx1"/>
                </a:solidFill>
              </a:rPr>
              <a:t>함께 분석하는 세 가지 주제입니다</a:t>
            </a:r>
            <a:endParaRPr lang="en-US" sz="2500" dirty="0"/>
          </a:p>
        </p:txBody>
      </p:sp>
      <p:sp>
        <p:nvSpPr>
          <p:cNvPr id="5" name="topic-row"/>
          <p:cNvSpPr/>
          <p:nvPr/>
        </p:nvSpPr>
        <p:spPr>
          <a:xfrm>
            <a:off x="502920" y="1783080"/>
            <a:ext cx="9683496" cy="1371600"/>
          </a:xfrm>
          <a:prstGeom prst="roundRect">
            <a:avLst>
              <a:gd name="adj" fmla="val 5333"/>
            </a:avLst>
          </a:prstGeom>
          <a:solidFill>
            <a:schemeClr val="bg2"/>
          </a:solidFill>
          <a:ln/>
        </p:spPr>
      </p:sp>
      <p:sp>
        <p:nvSpPr>
          <p:cNvPr id="6" name="topic-badge"/>
          <p:cNvSpPr/>
          <p:nvPr/>
        </p:nvSpPr>
        <p:spPr>
          <a:xfrm>
            <a:off x="502920" y="1783080"/>
            <a:ext cx="2651760" cy="1371600"/>
          </a:xfrm>
          <a:prstGeom prst="roundRect">
            <a:avLst>
              <a:gd name="adj" fmla="val 5333"/>
            </a:avLst>
          </a:prstGeom>
          <a:solidFill>
            <a:schemeClr val="accent1"/>
          </a:solidFill>
          <a:ln/>
        </p:spPr>
      </p:sp>
      <p:sp>
        <p:nvSpPr>
          <p:cNvPr id="7" name="Text 5"/>
          <p:cNvSpPr txBox="1"/>
          <p:nvPr/>
        </p:nvSpPr>
        <p:spPr>
          <a:xfrm>
            <a:off x="731520" y="1783080"/>
            <a:ext cx="822960" cy="1371600"/>
          </a:xfrm>
          <a:prstGeom prst="rect">
            <a:avLst/>
          </a:prstGeom>
          <a:noFill/>
          <a:ln/>
        </p:spPr>
        <p:txBody>
          <a:bodyPr wrap="square" lIns="0" tIns="0" rIns="0" bIns="0" rtlCol="0" anchor="ctr"/>
          <a:lstStyle/>
          <a:p>
            <a:pPr indent="0" marL="0">
              <a:buNone/>
            </a:pPr>
            <a:r>
              <a:rPr lang="en-US" sz="3600" b="1" dirty="0">
                <a:solidFill>
                  <a:schemeClr val="accent3"/>
                </a:solidFill>
              </a:rPr>
              <a:t>01</a:t>
            </a:r>
            <a:endParaRPr lang="en-US" sz="3600" dirty="0"/>
          </a:p>
        </p:txBody>
      </p:sp>
      <p:sp>
        <p:nvSpPr>
          <p:cNvPr id="8" name="Text 6"/>
          <p:cNvSpPr txBox="1"/>
          <p:nvPr/>
        </p:nvSpPr>
        <p:spPr>
          <a:xfrm>
            <a:off x="1554480" y="2039112"/>
            <a:ext cx="1508760" cy="685800"/>
          </a:xfrm>
          <a:prstGeom prst="rect">
            <a:avLst/>
          </a:prstGeom>
          <a:noFill/>
          <a:ln/>
        </p:spPr>
        <p:txBody>
          <a:bodyPr wrap="square" lIns="0" tIns="0" rIns="0" bIns="0" rtlCol="0" anchor="ctr"/>
          <a:lstStyle/>
          <a:p>
            <a:pPr indent="0" marL="0">
              <a:buNone/>
            </a:pPr>
            <a:r>
              <a:rPr lang="en-US" sz="1600" b="1" dirty="0">
                <a:solidFill>
                  <a:schemeClr val="bg1"/>
                </a:solidFill>
              </a:rPr>
              <a:t>정원과 돌봄의 개념</a:t>
            </a:r>
            <a:endParaRPr lang="en-US" sz="1600" dirty="0"/>
          </a:p>
        </p:txBody>
      </p:sp>
      <p:sp>
        <p:nvSpPr>
          <p:cNvPr id="9" name="chip"/>
          <p:cNvSpPr/>
          <p:nvPr/>
        </p:nvSpPr>
        <p:spPr>
          <a:xfrm>
            <a:off x="1554480" y="2770632"/>
            <a:ext cx="1005840" cy="256032"/>
          </a:xfrm>
          <a:prstGeom prst="roundRect">
            <a:avLst>
              <a:gd name="adj" fmla="val 28571"/>
            </a:avLst>
          </a:prstGeom>
          <a:solidFill>
            <a:schemeClr val="accent2"/>
          </a:solidFill>
          <a:ln/>
        </p:spPr>
      </p:sp>
      <p:sp>
        <p:nvSpPr>
          <p:cNvPr id="10" name="Text 8"/>
          <p:cNvSpPr txBox="1"/>
          <p:nvPr/>
        </p:nvSpPr>
        <p:spPr>
          <a:xfrm>
            <a:off x="1554480" y="2770632"/>
            <a:ext cx="1005840" cy="256032"/>
          </a:xfrm>
          <a:prstGeom prst="rect">
            <a:avLst/>
          </a:prstGeom>
          <a:noFill/>
          <a:ln/>
        </p:spPr>
        <p:txBody>
          <a:bodyPr wrap="square" lIns="0" tIns="0" rIns="0" bIns="0" rtlCol="0" anchor="ctr"/>
          <a:lstStyle/>
          <a:p>
            <a:pPr algn="ctr" indent="0" marL="0">
              <a:buNone/>
            </a:pPr>
            <a:r>
              <a:rPr lang="en-US" sz="1150" b="1" dirty="0">
                <a:solidFill>
                  <a:schemeClr val="tx1"/>
                </a:solidFill>
              </a:rPr>
              <a:t>이론적 기반</a:t>
            </a:r>
            <a:endParaRPr lang="en-US" sz="1150" dirty="0"/>
          </a:p>
        </p:txBody>
      </p:sp>
      <p:sp>
        <p:nvSpPr>
          <p:cNvPr id="11" name="Text 9"/>
          <p:cNvSpPr txBox="1"/>
          <p:nvPr/>
        </p:nvSpPr>
        <p:spPr>
          <a:xfrm>
            <a:off x="3383280" y="1874520"/>
            <a:ext cx="3657600" cy="1188720"/>
          </a:xfrm>
          <a:prstGeom prst="rect">
            <a:avLst/>
          </a:prstGeom>
          <a:noFill/>
          <a:ln/>
        </p:spPr>
        <p:txBody>
          <a:bodyPr wrap="square" lIns="0" tIns="0" rIns="0" bIns="0" rtlCol="0" anchor="ctr"/>
          <a:lstStyle/>
          <a:p>
            <a:pPr indent="0" marL="0">
              <a:spcAft>
                <a:spcPts val="500"/>
              </a:spcAft>
              <a:buNone/>
            </a:pPr>
            <a:r>
              <a:rPr lang="en-US" sz="1500" b="1" dirty="0">
                <a:solidFill>
                  <a:schemeClr val="tx1"/>
                </a:solidFill>
              </a:rPr>
              <a:t>누가 돌보고, 누가 결정하며, 누가 책임지는가?</a:t>
            </a:r>
            <a:endParaRPr lang="en-US" sz="1400" dirty="0"/>
          </a:p>
          <a:p>
            <a:pPr indent="0" marL="0">
              <a:buNone/>
            </a:pPr>
            <a:r>
              <a:rPr lang="en-US" sz="1300" dirty="0">
                <a:solidFill>
                  <a:schemeClr val="accent5"/>
                </a:solidFill>
              </a:rPr>
              <a:t>소유·이용·관리의 관계와 인클로저·공유지 논의를 검토해 돌봄·참여·책임·권한 개념을 정리</a:t>
            </a:r>
            <a:endParaRPr lang="en-US" sz="1400" dirty="0"/>
          </a:p>
        </p:txBody>
      </p:sp>
      <p:sp>
        <p:nvSpPr>
          <p:cNvPr id="12" name="Text 10"/>
          <p:cNvSpPr txBox="1"/>
          <p:nvPr/>
        </p:nvSpPr>
        <p:spPr>
          <a:xfrm>
            <a:off x="7269480" y="1874520"/>
            <a:ext cx="2734056" cy="1188720"/>
          </a:xfrm>
          <a:prstGeom prst="rect">
            <a:avLst/>
          </a:prstGeom>
          <a:noFill/>
          <a:ln/>
        </p:spPr>
        <p:txBody>
          <a:bodyPr wrap="square" lIns="0" tIns="0" rIns="0" bIns="0" rtlCol="0" anchor="ctr"/>
          <a:lstStyle/>
          <a:p>
            <a:pPr indent="0" marL="0">
              <a:spcAft>
                <a:spcPts val="400"/>
              </a:spcAft>
              <a:buNone/>
            </a:pPr>
            <a:r>
              <a:rPr lang="en-US" sz="1200" b="1" dirty="0">
                <a:solidFill>
                  <a:schemeClr val="accent1"/>
                </a:solidFill>
              </a:rPr>
              <a:t>다룰 사례</a:t>
            </a:r>
            <a:endParaRPr lang="en-US" sz="1400" dirty="0"/>
          </a:p>
          <a:p>
            <a:pPr indent="0" marL="0">
              <a:buNone/>
            </a:pPr>
            <a:r>
              <a:rPr lang="en-US" sz="1300" dirty="0">
                <a:solidFill>
                  <a:schemeClr val="tx1"/>
                </a:solidFill>
              </a:rPr>
              <a:t>영국 allotment · community garden · 국내 시민정원 · 게릴라 가드닝</a:t>
            </a:r>
            <a:endParaRPr lang="en-US" sz="1400" dirty="0"/>
          </a:p>
        </p:txBody>
      </p:sp>
      <p:sp>
        <p:nvSpPr>
          <p:cNvPr id="13" name="topic-row"/>
          <p:cNvSpPr/>
          <p:nvPr/>
        </p:nvSpPr>
        <p:spPr>
          <a:xfrm>
            <a:off x="502920" y="3291840"/>
            <a:ext cx="9683496" cy="1371600"/>
          </a:xfrm>
          <a:prstGeom prst="roundRect">
            <a:avLst>
              <a:gd name="adj" fmla="val 5333"/>
            </a:avLst>
          </a:prstGeom>
          <a:solidFill>
            <a:schemeClr val="bg2"/>
          </a:solidFill>
          <a:ln/>
        </p:spPr>
      </p:sp>
      <p:sp>
        <p:nvSpPr>
          <p:cNvPr id="14" name="topic-badge"/>
          <p:cNvSpPr/>
          <p:nvPr/>
        </p:nvSpPr>
        <p:spPr>
          <a:xfrm>
            <a:off x="502920" y="3291840"/>
            <a:ext cx="2651760" cy="1371600"/>
          </a:xfrm>
          <a:prstGeom prst="roundRect">
            <a:avLst>
              <a:gd name="adj" fmla="val 5333"/>
            </a:avLst>
          </a:prstGeom>
          <a:solidFill>
            <a:schemeClr val="tx2"/>
          </a:solidFill>
          <a:ln/>
        </p:spPr>
      </p:sp>
      <p:sp>
        <p:nvSpPr>
          <p:cNvPr id="15" name="Text 13"/>
          <p:cNvSpPr txBox="1"/>
          <p:nvPr/>
        </p:nvSpPr>
        <p:spPr>
          <a:xfrm>
            <a:off x="731520" y="3291840"/>
            <a:ext cx="822960" cy="1371600"/>
          </a:xfrm>
          <a:prstGeom prst="rect">
            <a:avLst/>
          </a:prstGeom>
          <a:noFill/>
          <a:ln/>
        </p:spPr>
        <p:txBody>
          <a:bodyPr wrap="square" lIns="0" tIns="0" rIns="0" bIns="0" rtlCol="0" anchor="ctr"/>
          <a:lstStyle/>
          <a:p>
            <a:pPr indent="0" marL="0">
              <a:buNone/>
            </a:pPr>
            <a:r>
              <a:rPr lang="en-US" sz="3600" b="1" dirty="0">
                <a:solidFill>
                  <a:schemeClr val="accent3"/>
                </a:solidFill>
              </a:rPr>
              <a:t>02</a:t>
            </a:r>
            <a:endParaRPr lang="en-US" sz="3600" dirty="0"/>
          </a:p>
        </p:txBody>
      </p:sp>
      <p:sp>
        <p:nvSpPr>
          <p:cNvPr id="16" name="Text 14"/>
          <p:cNvSpPr txBox="1"/>
          <p:nvPr/>
        </p:nvSpPr>
        <p:spPr>
          <a:xfrm>
            <a:off x="1554480" y="3547872"/>
            <a:ext cx="1508760" cy="685800"/>
          </a:xfrm>
          <a:prstGeom prst="rect">
            <a:avLst/>
          </a:prstGeom>
          <a:noFill/>
          <a:ln/>
        </p:spPr>
        <p:txBody>
          <a:bodyPr wrap="square" lIns="0" tIns="0" rIns="0" bIns="0" rtlCol="0" anchor="ctr"/>
          <a:lstStyle/>
          <a:p>
            <a:pPr indent="0" marL="0">
              <a:buNone/>
            </a:pPr>
            <a:r>
              <a:rPr lang="en-US" sz="1600" b="1" dirty="0">
                <a:solidFill>
                  <a:schemeClr val="bg1"/>
                </a:solidFill>
              </a:rPr>
              <a:t>돌봄 실천과 미적 경험</a:t>
            </a:r>
            <a:endParaRPr lang="en-US" sz="1600" dirty="0"/>
          </a:p>
        </p:txBody>
      </p:sp>
      <p:sp>
        <p:nvSpPr>
          <p:cNvPr id="17" name="chip"/>
          <p:cNvSpPr/>
          <p:nvPr/>
        </p:nvSpPr>
        <p:spPr>
          <a:xfrm>
            <a:off x="1554480" y="4279392"/>
            <a:ext cx="1005840" cy="256032"/>
          </a:xfrm>
          <a:prstGeom prst="roundRect">
            <a:avLst>
              <a:gd name="adj" fmla="val 28571"/>
            </a:avLst>
          </a:prstGeom>
          <a:solidFill>
            <a:schemeClr val="accent2"/>
          </a:solidFill>
          <a:ln/>
        </p:spPr>
      </p:sp>
      <p:sp>
        <p:nvSpPr>
          <p:cNvPr id="18" name="Text 16"/>
          <p:cNvSpPr txBox="1"/>
          <p:nvPr/>
        </p:nvSpPr>
        <p:spPr>
          <a:xfrm>
            <a:off x="1554480" y="4279392"/>
            <a:ext cx="1005840" cy="256032"/>
          </a:xfrm>
          <a:prstGeom prst="rect">
            <a:avLst/>
          </a:prstGeom>
          <a:noFill/>
          <a:ln/>
        </p:spPr>
        <p:txBody>
          <a:bodyPr wrap="square" lIns="0" tIns="0" rIns="0" bIns="0" rtlCol="0" anchor="ctr"/>
          <a:lstStyle/>
          <a:p>
            <a:pPr algn="ctr" indent="0" marL="0">
              <a:buNone/>
            </a:pPr>
            <a:r>
              <a:rPr lang="en-US" sz="1150" b="1" dirty="0">
                <a:solidFill>
                  <a:schemeClr val="tx1"/>
                </a:solidFill>
              </a:rPr>
              <a:t>현장연구</a:t>
            </a:r>
            <a:endParaRPr lang="en-US" sz="1150" dirty="0"/>
          </a:p>
        </p:txBody>
      </p:sp>
      <p:sp>
        <p:nvSpPr>
          <p:cNvPr id="19" name="Text 17"/>
          <p:cNvSpPr txBox="1"/>
          <p:nvPr/>
        </p:nvSpPr>
        <p:spPr>
          <a:xfrm>
            <a:off x="3383280" y="3383280"/>
            <a:ext cx="3657600" cy="1188720"/>
          </a:xfrm>
          <a:prstGeom prst="rect">
            <a:avLst/>
          </a:prstGeom>
          <a:noFill/>
          <a:ln/>
        </p:spPr>
        <p:txBody>
          <a:bodyPr wrap="square" lIns="0" tIns="0" rIns="0" bIns="0" rtlCol="0" anchor="ctr"/>
          <a:lstStyle/>
          <a:p>
            <a:pPr indent="0" marL="0">
              <a:spcAft>
                <a:spcPts val="500"/>
              </a:spcAft>
              <a:buNone/>
            </a:pPr>
            <a:r>
              <a:rPr lang="en-US" sz="1500" b="1" dirty="0">
                <a:solidFill>
                  <a:schemeClr val="tx1"/>
                </a:solidFill>
              </a:rPr>
              <a:t>무엇을 알아차리고, 어떤 기준으로 대응하는가?</a:t>
            </a:r>
            <a:endParaRPr lang="en-US" sz="1400" dirty="0"/>
          </a:p>
          <a:p>
            <a:pPr indent="0" marL="0">
              <a:buNone/>
            </a:pPr>
            <a:r>
              <a:rPr lang="en-US" sz="1300" dirty="0">
                <a:solidFill>
                  <a:schemeClr val="accent5"/>
                </a:solidFill>
              </a:rPr>
              <a:t>시민정원사·전문 정원사·커뮤니티 가드너의 판단 기준이 공동작업에서 조율되는 과정을 관찰</a:t>
            </a:r>
            <a:endParaRPr lang="en-US" sz="1400" dirty="0"/>
          </a:p>
        </p:txBody>
      </p:sp>
      <p:sp>
        <p:nvSpPr>
          <p:cNvPr id="20" name="Text 18"/>
          <p:cNvSpPr txBox="1"/>
          <p:nvPr/>
        </p:nvSpPr>
        <p:spPr>
          <a:xfrm>
            <a:off x="7269480" y="3383280"/>
            <a:ext cx="2734056" cy="1188720"/>
          </a:xfrm>
          <a:prstGeom prst="rect">
            <a:avLst/>
          </a:prstGeom>
          <a:noFill/>
          <a:ln/>
        </p:spPr>
        <p:txBody>
          <a:bodyPr wrap="square" lIns="0" tIns="0" rIns="0" bIns="0" rtlCol="0" anchor="ctr"/>
          <a:lstStyle/>
          <a:p>
            <a:pPr indent="0" marL="0">
              <a:spcAft>
                <a:spcPts val="400"/>
              </a:spcAft>
              <a:buNone/>
            </a:pPr>
            <a:r>
              <a:rPr lang="en-US" sz="1200" b="1" dirty="0">
                <a:solidFill>
                  <a:schemeClr val="accent1"/>
                </a:solidFill>
              </a:rPr>
              <a:t>살펴볼 장면</a:t>
            </a:r>
            <a:endParaRPr lang="en-US" sz="1400" dirty="0"/>
          </a:p>
          <a:p>
            <a:pPr indent="0" marL="0">
              <a:buNone/>
            </a:pPr>
            <a:r>
              <a:rPr lang="en-US" sz="1300" dirty="0">
                <a:solidFill>
                  <a:schemeClr val="tx1"/>
                </a:solidFill>
              </a:rPr>
              <a:t>‘깨끗한 공간’과 ‘변화를 허용하는 생태적 공간’, 식물 생장 주기와 프로그램 일정이 어긋날 때의 선택</a:t>
            </a:r>
            <a:endParaRPr lang="en-US" sz="1400" dirty="0"/>
          </a:p>
        </p:txBody>
      </p:sp>
      <p:sp>
        <p:nvSpPr>
          <p:cNvPr id="21" name="topic-row"/>
          <p:cNvSpPr/>
          <p:nvPr/>
        </p:nvSpPr>
        <p:spPr>
          <a:xfrm>
            <a:off x="502920" y="4800600"/>
            <a:ext cx="9683496" cy="1371600"/>
          </a:xfrm>
          <a:prstGeom prst="roundRect">
            <a:avLst>
              <a:gd name="adj" fmla="val 5333"/>
            </a:avLst>
          </a:prstGeom>
          <a:solidFill>
            <a:schemeClr val="bg2"/>
          </a:solidFill>
          <a:ln/>
        </p:spPr>
      </p:sp>
      <p:sp>
        <p:nvSpPr>
          <p:cNvPr id="22" name="topic-badge"/>
          <p:cNvSpPr/>
          <p:nvPr/>
        </p:nvSpPr>
        <p:spPr>
          <a:xfrm>
            <a:off x="502920" y="4800600"/>
            <a:ext cx="2651760" cy="1371600"/>
          </a:xfrm>
          <a:prstGeom prst="roundRect">
            <a:avLst>
              <a:gd name="adj" fmla="val 5333"/>
            </a:avLst>
          </a:prstGeom>
          <a:solidFill>
            <a:schemeClr val="tx2"/>
          </a:solidFill>
          <a:ln/>
        </p:spPr>
      </p:sp>
      <p:sp>
        <p:nvSpPr>
          <p:cNvPr id="23" name="Text 21"/>
          <p:cNvSpPr txBox="1"/>
          <p:nvPr/>
        </p:nvSpPr>
        <p:spPr>
          <a:xfrm>
            <a:off x="731520" y="4800600"/>
            <a:ext cx="822960" cy="1371600"/>
          </a:xfrm>
          <a:prstGeom prst="rect">
            <a:avLst/>
          </a:prstGeom>
          <a:noFill/>
          <a:ln/>
        </p:spPr>
        <p:txBody>
          <a:bodyPr wrap="square" lIns="0" tIns="0" rIns="0" bIns="0" rtlCol="0" anchor="ctr"/>
          <a:lstStyle/>
          <a:p>
            <a:pPr indent="0" marL="0">
              <a:buNone/>
            </a:pPr>
            <a:r>
              <a:rPr lang="en-US" sz="3600" b="1" dirty="0">
                <a:solidFill>
                  <a:schemeClr val="accent3"/>
                </a:solidFill>
              </a:rPr>
              <a:t>03</a:t>
            </a:r>
            <a:endParaRPr lang="en-US" sz="3600" dirty="0"/>
          </a:p>
        </p:txBody>
      </p:sp>
      <p:sp>
        <p:nvSpPr>
          <p:cNvPr id="24" name="Text 22"/>
          <p:cNvSpPr txBox="1"/>
          <p:nvPr/>
        </p:nvSpPr>
        <p:spPr>
          <a:xfrm>
            <a:off x="1554480" y="5056632"/>
            <a:ext cx="1508760" cy="685800"/>
          </a:xfrm>
          <a:prstGeom prst="rect">
            <a:avLst/>
          </a:prstGeom>
          <a:noFill/>
          <a:ln/>
        </p:spPr>
        <p:txBody>
          <a:bodyPr wrap="square" lIns="0" tIns="0" rIns="0" bIns="0" rtlCol="0" anchor="ctr"/>
          <a:lstStyle/>
          <a:p>
            <a:pPr indent="0" marL="0">
              <a:buNone/>
            </a:pPr>
            <a:r>
              <a:rPr lang="en-US" sz="1600" b="1" dirty="0">
                <a:solidFill>
                  <a:schemeClr val="bg1"/>
                </a:solidFill>
              </a:rPr>
              <a:t>인프라와 공동운영</a:t>
            </a:r>
            <a:endParaRPr lang="en-US" sz="1600" dirty="0"/>
          </a:p>
        </p:txBody>
      </p:sp>
      <p:sp>
        <p:nvSpPr>
          <p:cNvPr id="25" name="chip"/>
          <p:cNvSpPr/>
          <p:nvPr/>
        </p:nvSpPr>
        <p:spPr>
          <a:xfrm>
            <a:off x="1554480" y="5788152"/>
            <a:ext cx="1005840" cy="256032"/>
          </a:xfrm>
          <a:prstGeom prst="roundRect">
            <a:avLst>
              <a:gd name="adj" fmla="val 28571"/>
            </a:avLst>
          </a:prstGeom>
          <a:solidFill>
            <a:schemeClr val="accent2"/>
          </a:solidFill>
          <a:ln/>
        </p:spPr>
      </p:sp>
      <p:sp>
        <p:nvSpPr>
          <p:cNvPr id="26" name="Text 24"/>
          <p:cNvSpPr txBox="1"/>
          <p:nvPr/>
        </p:nvSpPr>
        <p:spPr>
          <a:xfrm>
            <a:off x="1554480" y="5788152"/>
            <a:ext cx="1005840" cy="256032"/>
          </a:xfrm>
          <a:prstGeom prst="rect">
            <a:avLst/>
          </a:prstGeom>
          <a:noFill/>
          <a:ln/>
        </p:spPr>
        <p:txBody>
          <a:bodyPr wrap="square" lIns="0" tIns="0" rIns="0" bIns="0" rtlCol="0" anchor="ctr"/>
          <a:lstStyle/>
          <a:p>
            <a:pPr algn="ctr" indent="0" marL="0">
              <a:buNone/>
            </a:pPr>
            <a:r>
              <a:rPr lang="en-US" sz="1150" b="1" dirty="0">
                <a:solidFill>
                  <a:schemeClr val="tx1"/>
                </a:solidFill>
              </a:rPr>
              <a:t>현장연구</a:t>
            </a:r>
            <a:endParaRPr lang="en-US" sz="1150" dirty="0"/>
          </a:p>
        </p:txBody>
      </p:sp>
      <p:sp>
        <p:nvSpPr>
          <p:cNvPr id="27" name="Text 25"/>
          <p:cNvSpPr txBox="1"/>
          <p:nvPr/>
        </p:nvSpPr>
        <p:spPr>
          <a:xfrm>
            <a:off x="3383280" y="4892040"/>
            <a:ext cx="3657600" cy="1188720"/>
          </a:xfrm>
          <a:prstGeom prst="rect">
            <a:avLst/>
          </a:prstGeom>
          <a:noFill/>
          <a:ln/>
        </p:spPr>
        <p:txBody>
          <a:bodyPr wrap="square" lIns="0" tIns="0" rIns="0" bIns="0" rtlCol="0" anchor="ctr"/>
          <a:lstStyle/>
          <a:p>
            <a:pPr indent="0" marL="0">
              <a:spcAft>
                <a:spcPts val="500"/>
              </a:spcAft>
              <a:buNone/>
            </a:pPr>
            <a:r>
              <a:rPr lang="en-US" sz="1500" b="1" dirty="0">
                <a:solidFill>
                  <a:schemeClr val="tx1"/>
                </a:solidFill>
              </a:rPr>
              <a:t>어떤 조건에서 돌봄이 이어지거나 중단되는가?</a:t>
            </a:r>
            <a:endParaRPr lang="en-US" sz="1400" dirty="0"/>
          </a:p>
          <a:p>
            <a:pPr indent="0" marL="0">
              <a:buNone/>
            </a:pPr>
            <a:r>
              <a:rPr lang="en-US" sz="1300" dirty="0">
                <a:solidFill>
                  <a:schemeClr val="accent5"/>
                </a:solidFill>
              </a:rPr>
              <a:t>급수·도구 보관·작업공간, 교육·기록·역할 규칙, 조정 가능한 운영 주체를 하나의 기반으로 분석</a:t>
            </a:r>
            <a:endParaRPr lang="en-US" sz="1400" dirty="0"/>
          </a:p>
        </p:txBody>
      </p:sp>
      <p:sp>
        <p:nvSpPr>
          <p:cNvPr id="28" name="Text 26"/>
          <p:cNvSpPr txBox="1"/>
          <p:nvPr/>
        </p:nvSpPr>
        <p:spPr>
          <a:xfrm>
            <a:off x="7269480" y="4892040"/>
            <a:ext cx="2734056" cy="1188720"/>
          </a:xfrm>
          <a:prstGeom prst="rect">
            <a:avLst/>
          </a:prstGeom>
          <a:noFill/>
          <a:ln/>
        </p:spPr>
        <p:txBody>
          <a:bodyPr wrap="square" lIns="0" tIns="0" rIns="0" bIns="0" rtlCol="0" anchor="ctr"/>
          <a:lstStyle/>
          <a:p>
            <a:pPr indent="0" marL="0">
              <a:spcAft>
                <a:spcPts val="400"/>
              </a:spcAft>
              <a:buNone/>
            </a:pPr>
            <a:r>
              <a:rPr lang="en-US" sz="1200" b="1" dirty="0">
                <a:solidFill>
                  <a:schemeClr val="accent1"/>
                </a:solidFill>
              </a:rPr>
              <a:t>비교 축</a:t>
            </a:r>
            <a:endParaRPr lang="en-US" sz="1400" dirty="0"/>
          </a:p>
          <a:p>
            <a:pPr indent="0" marL="0">
              <a:buNone/>
            </a:pPr>
            <a:r>
              <a:rPr lang="en-US" sz="1300" dirty="0">
                <a:solidFill>
                  <a:schemeClr val="tx1"/>
                </a:solidFill>
              </a:rPr>
              <a:t>공공기관 지원 정도 · 전문인력 개입 · 시민 의사결정 권한, 담당자 교체·예산 축소·참여자 이탈 시점</a:t>
            </a:r>
            <a:endParaRPr lang="en-US" sz="1400" dirty="0"/>
          </a:p>
        </p:txBody>
      </p:sp>
      <p:sp>
        <p:nvSpPr>
          <p:cNvPr id="29" name="callout"/>
          <p:cNvSpPr/>
          <p:nvPr/>
        </p:nvSpPr>
        <p:spPr>
          <a:xfrm>
            <a:off x="502920" y="6355080"/>
            <a:ext cx="9683496" cy="530352"/>
          </a:xfrm>
          <a:prstGeom prst="roundRect">
            <a:avLst>
              <a:gd name="adj" fmla="val 13793"/>
            </a:avLst>
          </a:prstGeom>
          <a:solidFill>
            <a:schemeClr val="accent3"/>
          </a:solidFill>
          <a:ln/>
        </p:spPr>
      </p:sp>
      <p:sp>
        <p:nvSpPr>
          <p:cNvPr id="30" name="Text 28"/>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첫 주제로 분석 언어를 세우고, 주제 2·3을 같은 현장에서 연결합니다</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연구 방법</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07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서울·수도권 도시정원 약 3곳을 반복 관찰하고</a:t>
            </a:r>
            <a:endParaRPr lang="en-US" sz="2500" dirty="0"/>
          </a:p>
          <a:p>
            <a:pPr algn="ctr" indent="0" marL="0">
              <a:buNone/>
            </a:pPr>
            <a:r>
              <a:rPr lang="en-US" sz="2500" b="1" dirty="0">
                <a:solidFill>
                  <a:schemeClr val="tx1"/>
                </a:solidFill>
              </a:rPr>
              <a:t>면담·작업 장면·운영 자료를 대조하겠습니다</a:t>
            </a:r>
            <a:endParaRPr lang="en-US" sz="2500" dirty="0"/>
          </a:p>
        </p:txBody>
      </p:sp>
      <p:sp>
        <p:nvSpPr>
          <p:cNvPr id="5" name="Text 3"/>
          <p:cNvSpPr txBox="1"/>
          <p:nvPr/>
        </p:nvSpPr>
        <p:spPr>
          <a:xfrm>
            <a:off x="502920" y="1783080"/>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사례 선정 기준</a:t>
            </a:r>
            <a:endParaRPr lang="en-US" sz="1600" dirty="0"/>
          </a:p>
        </p:txBody>
      </p:sp>
      <p:sp>
        <p:nvSpPr>
          <p:cNvPr id="6" name="criteria-chip"/>
          <p:cNvSpPr/>
          <p:nvPr/>
        </p:nvSpPr>
        <p:spPr>
          <a:xfrm>
            <a:off x="2057400" y="1783080"/>
            <a:ext cx="2618232" cy="457200"/>
          </a:xfrm>
          <a:prstGeom prst="roundRect">
            <a:avLst>
              <a:gd name="adj" fmla="val 16000"/>
            </a:avLst>
          </a:prstGeom>
          <a:solidFill>
            <a:schemeClr val="accent3"/>
          </a:solidFill>
          <a:ln/>
        </p:spPr>
      </p:sp>
      <p:sp>
        <p:nvSpPr>
          <p:cNvPr id="7" name="Text 5"/>
          <p:cNvSpPr txBox="1"/>
          <p:nvPr/>
        </p:nvSpPr>
        <p:spPr>
          <a:xfrm>
            <a:off x="2148840" y="1783080"/>
            <a:ext cx="2435352" cy="457200"/>
          </a:xfrm>
          <a:prstGeom prst="rect">
            <a:avLst/>
          </a:prstGeom>
          <a:noFill/>
          <a:ln/>
        </p:spPr>
        <p:txBody>
          <a:bodyPr wrap="square" lIns="0" tIns="0" rIns="0" bIns="0" rtlCol="0" anchor="ctr"/>
          <a:lstStyle/>
          <a:p>
            <a:pPr algn="ctr" indent="0" marL="0">
              <a:buNone/>
            </a:pPr>
            <a:r>
              <a:rPr lang="en-US" sz="1300" b="1" dirty="0">
                <a:solidFill>
                  <a:schemeClr val="tx1"/>
                </a:solidFill>
              </a:rPr>
              <a:t>①  시민이 실제 관리에 참여</a:t>
            </a:r>
            <a:endParaRPr lang="en-US" sz="1300" dirty="0"/>
          </a:p>
        </p:txBody>
      </p:sp>
      <p:sp>
        <p:nvSpPr>
          <p:cNvPr id="8" name="criteria-chip"/>
          <p:cNvSpPr/>
          <p:nvPr/>
        </p:nvSpPr>
        <p:spPr>
          <a:xfrm>
            <a:off x="4812792" y="1783080"/>
            <a:ext cx="2618232" cy="457200"/>
          </a:xfrm>
          <a:prstGeom prst="roundRect">
            <a:avLst>
              <a:gd name="adj" fmla="val 16000"/>
            </a:avLst>
          </a:prstGeom>
          <a:solidFill>
            <a:schemeClr val="accent3"/>
          </a:solidFill>
          <a:ln/>
        </p:spPr>
      </p:sp>
      <p:sp>
        <p:nvSpPr>
          <p:cNvPr id="9" name="Text 7"/>
          <p:cNvSpPr txBox="1"/>
          <p:nvPr/>
        </p:nvSpPr>
        <p:spPr>
          <a:xfrm>
            <a:off x="4904232" y="1783080"/>
            <a:ext cx="2435352" cy="457200"/>
          </a:xfrm>
          <a:prstGeom prst="rect">
            <a:avLst/>
          </a:prstGeom>
          <a:noFill/>
          <a:ln/>
        </p:spPr>
        <p:txBody>
          <a:bodyPr wrap="square" lIns="0" tIns="0" rIns="0" bIns="0" rtlCol="0" anchor="ctr"/>
          <a:lstStyle/>
          <a:p>
            <a:pPr algn="ctr" indent="0" marL="0">
              <a:buNone/>
            </a:pPr>
            <a:r>
              <a:rPr lang="en-US" sz="1300" b="1" dirty="0">
                <a:solidFill>
                  <a:schemeClr val="tx1"/>
                </a:solidFill>
              </a:rPr>
              <a:t>②  2년 이상 운영 (계절 변화 확인)</a:t>
            </a:r>
            <a:endParaRPr lang="en-US" sz="1300" dirty="0"/>
          </a:p>
        </p:txBody>
      </p:sp>
      <p:sp>
        <p:nvSpPr>
          <p:cNvPr id="10" name="criteria-chip"/>
          <p:cNvSpPr/>
          <p:nvPr/>
        </p:nvSpPr>
        <p:spPr>
          <a:xfrm>
            <a:off x="7568184" y="1783080"/>
            <a:ext cx="2618232" cy="457200"/>
          </a:xfrm>
          <a:prstGeom prst="roundRect">
            <a:avLst>
              <a:gd name="adj" fmla="val 16000"/>
            </a:avLst>
          </a:prstGeom>
          <a:solidFill>
            <a:schemeClr val="accent3"/>
          </a:solidFill>
          <a:ln/>
        </p:spPr>
      </p:sp>
      <p:sp>
        <p:nvSpPr>
          <p:cNvPr id="11" name="Text 9"/>
          <p:cNvSpPr txBox="1"/>
          <p:nvPr/>
        </p:nvSpPr>
        <p:spPr>
          <a:xfrm>
            <a:off x="7659624" y="1783080"/>
            <a:ext cx="2435352" cy="457200"/>
          </a:xfrm>
          <a:prstGeom prst="rect">
            <a:avLst/>
          </a:prstGeom>
          <a:noFill/>
          <a:ln/>
        </p:spPr>
        <p:txBody>
          <a:bodyPr wrap="square" lIns="0" tIns="0" rIns="0" bIns="0" rtlCol="0" anchor="ctr"/>
          <a:lstStyle/>
          <a:p>
            <a:pPr algn="ctr" indent="0" marL="0">
              <a:buNone/>
            </a:pPr>
            <a:r>
              <a:rPr lang="en-US" sz="1300" b="1" dirty="0">
                <a:solidFill>
                  <a:schemeClr val="tx1"/>
                </a:solidFill>
              </a:rPr>
              <a:t>③  관리 주체·지원 방식이 다름</a:t>
            </a:r>
            <a:endParaRPr lang="en-US" sz="1300" dirty="0"/>
          </a:p>
        </p:txBody>
      </p:sp>
      <p:sp>
        <p:nvSpPr>
          <p:cNvPr id="12" name="step-card"/>
          <p:cNvSpPr/>
          <p:nvPr/>
        </p:nvSpPr>
        <p:spPr>
          <a:xfrm>
            <a:off x="502920" y="2468880"/>
            <a:ext cx="3063240" cy="2743200"/>
          </a:xfrm>
          <a:prstGeom prst="roundRect">
            <a:avLst>
              <a:gd name="adj" fmla="val 2667"/>
            </a:avLst>
          </a:prstGeom>
          <a:solidFill>
            <a:schemeClr val="bg2"/>
          </a:solidFill>
          <a:ln/>
        </p:spPr>
      </p:sp>
      <p:sp>
        <p:nvSpPr>
          <p:cNvPr id="13" name="step-head"/>
          <p:cNvSpPr/>
          <p:nvPr/>
        </p:nvSpPr>
        <p:spPr>
          <a:xfrm>
            <a:off x="502920" y="2468880"/>
            <a:ext cx="3063240" cy="731520"/>
          </a:xfrm>
          <a:prstGeom prst="roundRect">
            <a:avLst>
              <a:gd name="adj" fmla="val 10000"/>
            </a:avLst>
          </a:prstGeom>
          <a:solidFill>
            <a:schemeClr val="accent1"/>
          </a:solidFill>
          <a:ln/>
        </p:spPr>
      </p:sp>
      <p:sp>
        <p:nvSpPr>
          <p:cNvPr id="14" name="Text 12"/>
          <p:cNvSpPr txBox="1"/>
          <p:nvPr/>
        </p:nvSpPr>
        <p:spPr>
          <a:xfrm>
            <a:off x="685800" y="2468880"/>
            <a:ext cx="640080" cy="731520"/>
          </a:xfrm>
          <a:prstGeom prst="rect">
            <a:avLst/>
          </a:prstGeom>
          <a:noFill/>
          <a:ln/>
        </p:spPr>
        <p:txBody>
          <a:bodyPr wrap="square" lIns="0" tIns="0" rIns="0" bIns="0" rtlCol="0" anchor="ctr"/>
          <a:lstStyle/>
          <a:p>
            <a:pPr indent="0" marL="0">
              <a:buNone/>
            </a:pPr>
            <a:r>
              <a:rPr lang="en-US" sz="2800" b="1" dirty="0">
                <a:solidFill>
                  <a:schemeClr val="accent3"/>
                </a:solidFill>
              </a:rPr>
              <a:t>01</a:t>
            </a:r>
            <a:endParaRPr lang="en-US" sz="2800" dirty="0"/>
          </a:p>
        </p:txBody>
      </p:sp>
      <p:sp>
        <p:nvSpPr>
          <p:cNvPr id="15" name="Text 13"/>
          <p:cNvSpPr txBox="1"/>
          <p:nvPr/>
        </p:nvSpPr>
        <p:spPr>
          <a:xfrm>
            <a:off x="1371600" y="2468880"/>
            <a:ext cx="2057400" cy="731520"/>
          </a:xfrm>
          <a:prstGeom prst="rect">
            <a:avLst/>
          </a:prstGeom>
          <a:noFill/>
          <a:ln/>
        </p:spPr>
        <p:txBody>
          <a:bodyPr wrap="square" lIns="0" tIns="0" rIns="0" bIns="0" rtlCol="0" anchor="ctr"/>
          <a:lstStyle/>
          <a:p>
            <a:pPr indent="0" marL="0">
              <a:buNone/>
            </a:pPr>
            <a:r>
              <a:rPr lang="en-US" sz="1900" b="1" dirty="0">
                <a:solidFill>
                  <a:schemeClr val="bg1"/>
                </a:solidFill>
              </a:rPr>
              <a:t>자료 수집</a:t>
            </a:r>
            <a:endParaRPr lang="en-US" sz="1900" dirty="0"/>
          </a:p>
        </p:txBody>
      </p:sp>
      <p:sp>
        <p:nvSpPr>
          <p:cNvPr id="16" name="Text 14"/>
          <p:cNvSpPr txBox="1"/>
          <p:nvPr/>
        </p:nvSpPr>
        <p:spPr>
          <a:xfrm>
            <a:off x="685800" y="3337560"/>
            <a:ext cx="2697480" cy="502920"/>
          </a:xfrm>
          <a:prstGeom prst="rect">
            <a:avLst/>
          </a:prstGeom>
          <a:noFill/>
          <a:ln/>
        </p:spPr>
        <p:txBody>
          <a:bodyPr wrap="square" lIns="0" tIns="0" rIns="0" bIns="0" rtlCol="0" anchor="t"/>
          <a:lstStyle/>
          <a:p>
            <a:pPr indent="0" marL="0">
              <a:buNone/>
            </a:pPr>
            <a:r>
              <a:rPr lang="en-US" sz="1450" b="1" dirty="0">
                <a:solidFill>
                  <a:schemeClr val="accent1"/>
                </a:solidFill>
              </a:rPr>
              <a:t>계절별 반복 관찰 · 반구조화 심층면담</a:t>
            </a:r>
            <a:endParaRPr lang="en-US" sz="1450" dirty="0"/>
          </a:p>
        </p:txBody>
      </p:sp>
      <p:sp>
        <p:nvSpPr>
          <p:cNvPr id="17" name="Text 15"/>
          <p:cNvSpPr txBox="1"/>
          <p:nvPr/>
        </p:nvSpPr>
        <p:spPr>
          <a:xfrm>
            <a:off x="685800" y="3886200"/>
            <a:ext cx="2697480"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시민정원사·전문인력·운영 담당자 면담</a:t>
            </a:r>
            <a:endParaRPr lang="en-US" sz="1300" dirty="0"/>
          </a:p>
          <a:p>
            <a:pPr marL="342900" indent="-342900">
              <a:spcAft>
                <a:spcPts val="600"/>
              </a:spcAft>
              <a:buSzPct val="100000"/>
              <a:buChar char="•"/>
            </a:pPr>
            <a:r>
              <a:rPr lang="en-US" sz="1300" dirty="0">
                <a:solidFill>
                  <a:schemeClr val="tx1"/>
                </a:solidFill>
              </a:rPr>
              <a:t>‘최근 관리 방식을 바꾼 이유’, ‘작업을 이어가기 어려웠던 상황’ 질문</a:t>
            </a:r>
            <a:endParaRPr lang="en-US" sz="1300" dirty="0"/>
          </a:p>
        </p:txBody>
      </p:sp>
      <p:sp>
        <p:nvSpPr>
          <p:cNvPr id="18" name="arrow"/>
          <p:cNvSpPr/>
          <p:nvPr/>
        </p:nvSpPr>
        <p:spPr>
          <a:xfrm>
            <a:off x="3584448" y="2697480"/>
            <a:ext cx="210312" cy="274320"/>
          </a:xfrm>
          <a:prstGeom prst="rightArrow">
            <a:avLst/>
          </a:prstGeom>
          <a:solidFill>
            <a:schemeClr val="accent2"/>
          </a:solidFill>
          <a:ln/>
        </p:spPr>
      </p:sp>
      <p:sp>
        <p:nvSpPr>
          <p:cNvPr id="19" name="step-card"/>
          <p:cNvSpPr/>
          <p:nvPr/>
        </p:nvSpPr>
        <p:spPr>
          <a:xfrm>
            <a:off x="3813048" y="2468880"/>
            <a:ext cx="3063240" cy="2743200"/>
          </a:xfrm>
          <a:prstGeom prst="roundRect">
            <a:avLst>
              <a:gd name="adj" fmla="val 2667"/>
            </a:avLst>
          </a:prstGeom>
          <a:solidFill>
            <a:schemeClr val="bg2"/>
          </a:solidFill>
          <a:ln/>
        </p:spPr>
      </p:sp>
      <p:sp>
        <p:nvSpPr>
          <p:cNvPr id="20" name="step-head"/>
          <p:cNvSpPr/>
          <p:nvPr/>
        </p:nvSpPr>
        <p:spPr>
          <a:xfrm>
            <a:off x="3813048" y="2468880"/>
            <a:ext cx="3063240" cy="731520"/>
          </a:xfrm>
          <a:prstGeom prst="roundRect">
            <a:avLst>
              <a:gd name="adj" fmla="val 10000"/>
            </a:avLst>
          </a:prstGeom>
          <a:solidFill>
            <a:schemeClr val="accent1"/>
          </a:solidFill>
          <a:ln/>
        </p:spPr>
      </p:sp>
      <p:sp>
        <p:nvSpPr>
          <p:cNvPr id="21" name="Text 19"/>
          <p:cNvSpPr txBox="1"/>
          <p:nvPr/>
        </p:nvSpPr>
        <p:spPr>
          <a:xfrm>
            <a:off x="3995928" y="2468880"/>
            <a:ext cx="640080" cy="731520"/>
          </a:xfrm>
          <a:prstGeom prst="rect">
            <a:avLst/>
          </a:prstGeom>
          <a:noFill/>
          <a:ln/>
        </p:spPr>
        <p:txBody>
          <a:bodyPr wrap="square" lIns="0" tIns="0" rIns="0" bIns="0" rtlCol="0" anchor="ctr"/>
          <a:lstStyle/>
          <a:p>
            <a:pPr indent="0" marL="0">
              <a:buNone/>
            </a:pPr>
            <a:r>
              <a:rPr lang="en-US" sz="2800" b="1" dirty="0">
                <a:solidFill>
                  <a:schemeClr val="accent3"/>
                </a:solidFill>
              </a:rPr>
              <a:t>02</a:t>
            </a:r>
            <a:endParaRPr lang="en-US" sz="2800" dirty="0"/>
          </a:p>
        </p:txBody>
      </p:sp>
      <p:sp>
        <p:nvSpPr>
          <p:cNvPr id="22" name="Text 20"/>
          <p:cNvSpPr txBox="1"/>
          <p:nvPr/>
        </p:nvSpPr>
        <p:spPr>
          <a:xfrm>
            <a:off x="4681728" y="2468880"/>
            <a:ext cx="2057400" cy="731520"/>
          </a:xfrm>
          <a:prstGeom prst="rect">
            <a:avLst/>
          </a:prstGeom>
          <a:noFill/>
          <a:ln/>
        </p:spPr>
        <p:txBody>
          <a:bodyPr wrap="square" lIns="0" tIns="0" rIns="0" bIns="0" rtlCol="0" anchor="ctr"/>
          <a:lstStyle/>
          <a:p>
            <a:pPr indent="0" marL="0">
              <a:buNone/>
            </a:pPr>
            <a:r>
              <a:rPr lang="en-US" sz="1900" b="1" dirty="0">
                <a:solidFill>
                  <a:schemeClr val="bg1"/>
                </a:solidFill>
              </a:rPr>
              <a:t>자료 대조</a:t>
            </a:r>
            <a:endParaRPr lang="en-US" sz="1900" dirty="0"/>
          </a:p>
        </p:txBody>
      </p:sp>
      <p:sp>
        <p:nvSpPr>
          <p:cNvPr id="23" name="Text 21"/>
          <p:cNvSpPr txBox="1"/>
          <p:nvPr/>
        </p:nvSpPr>
        <p:spPr>
          <a:xfrm>
            <a:off x="3995928" y="3337560"/>
            <a:ext cx="2697480" cy="502920"/>
          </a:xfrm>
          <a:prstGeom prst="rect">
            <a:avLst/>
          </a:prstGeom>
          <a:noFill/>
          <a:ln/>
        </p:spPr>
        <p:txBody>
          <a:bodyPr wrap="square" lIns="0" tIns="0" rIns="0" bIns="0" rtlCol="0" anchor="t"/>
          <a:lstStyle/>
          <a:p>
            <a:pPr indent="0" marL="0">
              <a:buNone/>
            </a:pPr>
            <a:r>
              <a:rPr lang="en-US" sz="1450" b="1" dirty="0">
                <a:solidFill>
                  <a:schemeClr val="accent1"/>
                </a:solidFill>
              </a:rPr>
              <a:t>작업 장면 · 운영 기록과 대조</a:t>
            </a:r>
            <a:endParaRPr lang="en-US" sz="1450" dirty="0"/>
          </a:p>
        </p:txBody>
      </p:sp>
      <p:sp>
        <p:nvSpPr>
          <p:cNvPr id="24" name="Text 22"/>
          <p:cNvSpPr txBox="1"/>
          <p:nvPr/>
        </p:nvSpPr>
        <p:spPr>
          <a:xfrm>
            <a:off x="3995928" y="3886200"/>
            <a:ext cx="2697480"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운영일지·공지문·교육자료·회의 기록</a:t>
            </a:r>
            <a:endParaRPr lang="en-US" sz="1300" dirty="0"/>
          </a:p>
          <a:p>
            <a:pPr marL="342900" indent="-342900">
              <a:spcAft>
                <a:spcPts val="600"/>
              </a:spcAft>
              <a:buSzPct val="100000"/>
              <a:buChar char="•"/>
            </a:pPr>
            <a:r>
              <a:rPr lang="en-US" sz="1300" dirty="0">
                <a:solidFill>
                  <a:schemeClr val="tx1"/>
                </a:solidFill>
              </a:rPr>
              <a:t>누가 어떤 도구로 작업을 제안하고 결정했는지 상호작용 기록</a:t>
            </a:r>
            <a:endParaRPr lang="en-US" sz="1300" dirty="0"/>
          </a:p>
        </p:txBody>
      </p:sp>
      <p:sp>
        <p:nvSpPr>
          <p:cNvPr id="25" name="arrow"/>
          <p:cNvSpPr/>
          <p:nvPr/>
        </p:nvSpPr>
        <p:spPr>
          <a:xfrm>
            <a:off x="6894576" y="2697480"/>
            <a:ext cx="210312" cy="274320"/>
          </a:xfrm>
          <a:prstGeom prst="rightArrow">
            <a:avLst/>
          </a:prstGeom>
          <a:solidFill>
            <a:schemeClr val="accent2"/>
          </a:solidFill>
          <a:ln/>
        </p:spPr>
      </p:sp>
      <p:sp>
        <p:nvSpPr>
          <p:cNvPr id="26" name="step-card"/>
          <p:cNvSpPr/>
          <p:nvPr/>
        </p:nvSpPr>
        <p:spPr>
          <a:xfrm>
            <a:off x="7123176" y="2468880"/>
            <a:ext cx="3063240" cy="2743200"/>
          </a:xfrm>
          <a:prstGeom prst="roundRect">
            <a:avLst>
              <a:gd name="adj" fmla="val 2667"/>
            </a:avLst>
          </a:prstGeom>
          <a:solidFill>
            <a:schemeClr val="bg2"/>
          </a:solidFill>
          <a:ln/>
        </p:spPr>
      </p:sp>
      <p:sp>
        <p:nvSpPr>
          <p:cNvPr id="27" name="step-head"/>
          <p:cNvSpPr/>
          <p:nvPr/>
        </p:nvSpPr>
        <p:spPr>
          <a:xfrm>
            <a:off x="7123176" y="2468880"/>
            <a:ext cx="3063240" cy="731520"/>
          </a:xfrm>
          <a:prstGeom prst="roundRect">
            <a:avLst>
              <a:gd name="adj" fmla="val 10000"/>
            </a:avLst>
          </a:prstGeom>
          <a:solidFill>
            <a:schemeClr val="accent1"/>
          </a:solidFill>
          <a:ln/>
        </p:spPr>
      </p:sp>
      <p:sp>
        <p:nvSpPr>
          <p:cNvPr id="28" name="Text 26"/>
          <p:cNvSpPr txBox="1"/>
          <p:nvPr/>
        </p:nvSpPr>
        <p:spPr>
          <a:xfrm>
            <a:off x="7306056" y="2468880"/>
            <a:ext cx="640080" cy="731520"/>
          </a:xfrm>
          <a:prstGeom prst="rect">
            <a:avLst/>
          </a:prstGeom>
          <a:noFill/>
          <a:ln/>
        </p:spPr>
        <p:txBody>
          <a:bodyPr wrap="square" lIns="0" tIns="0" rIns="0" bIns="0" rtlCol="0" anchor="ctr"/>
          <a:lstStyle/>
          <a:p>
            <a:pPr indent="0" marL="0">
              <a:buNone/>
            </a:pPr>
            <a:r>
              <a:rPr lang="en-US" sz="2800" b="1" dirty="0">
                <a:solidFill>
                  <a:schemeClr val="accent3"/>
                </a:solidFill>
              </a:rPr>
              <a:t>03</a:t>
            </a:r>
            <a:endParaRPr lang="en-US" sz="2800" dirty="0"/>
          </a:p>
        </p:txBody>
      </p:sp>
      <p:sp>
        <p:nvSpPr>
          <p:cNvPr id="29" name="Text 27"/>
          <p:cNvSpPr txBox="1"/>
          <p:nvPr/>
        </p:nvSpPr>
        <p:spPr>
          <a:xfrm>
            <a:off x="7991856" y="2468880"/>
            <a:ext cx="2057400" cy="731520"/>
          </a:xfrm>
          <a:prstGeom prst="rect">
            <a:avLst/>
          </a:prstGeom>
          <a:noFill/>
          <a:ln/>
        </p:spPr>
        <p:txBody>
          <a:bodyPr wrap="square" lIns="0" tIns="0" rIns="0" bIns="0" rtlCol="0" anchor="ctr"/>
          <a:lstStyle/>
          <a:p>
            <a:pPr indent="0" marL="0">
              <a:buNone/>
            </a:pPr>
            <a:r>
              <a:rPr lang="en-US" sz="1900" b="1" dirty="0">
                <a:solidFill>
                  <a:schemeClr val="bg1"/>
                </a:solidFill>
              </a:rPr>
              <a:t>비교 분석</a:t>
            </a:r>
            <a:endParaRPr lang="en-US" sz="1900" dirty="0"/>
          </a:p>
        </p:txBody>
      </p:sp>
      <p:sp>
        <p:nvSpPr>
          <p:cNvPr id="30" name="Text 28"/>
          <p:cNvSpPr txBox="1"/>
          <p:nvPr/>
        </p:nvSpPr>
        <p:spPr>
          <a:xfrm>
            <a:off x="7306056" y="3337560"/>
            <a:ext cx="2697480" cy="502920"/>
          </a:xfrm>
          <a:prstGeom prst="rect">
            <a:avLst/>
          </a:prstGeom>
          <a:noFill/>
          <a:ln/>
        </p:spPr>
        <p:txBody>
          <a:bodyPr wrap="square" lIns="0" tIns="0" rIns="0" bIns="0" rtlCol="0" anchor="t"/>
          <a:lstStyle/>
          <a:p>
            <a:pPr indent="0" marL="0">
              <a:buNone/>
            </a:pPr>
            <a:r>
              <a:rPr lang="en-US" sz="1450" b="1" dirty="0">
                <a:solidFill>
                  <a:schemeClr val="accent1"/>
                </a:solidFill>
              </a:rPr>
              <a:t>주제 코딩 · 사례별 분석</a:t>
            </a:r>
            <a:endParaRPr lang="en-US" sz="1450" dirty="0"/>
          </a:p>
        </p:txBody>
      </p:sp>
      <p:sp>
        <p:nvSpPr>
          <p:cNvPr id="31" name="Text 29"/>
          <p:cNvSpPr txBox="1"/>
          <p:nvPr/>
        </p:nvSpPr>
        <p:spPr>
          <a:xfrm>
            <a:off x="7306056" y="3886200"/>
            <a:ext cx="2697480"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면담·관찰 기록을 반복해 읽으며 코딩</a:t>
            </a:r>
            <a:endParaRPr lang="en-US" sz="1300" dirty="0"/>
          </a:p>
          <a:p>
            <a:pPr marL="342900" indent="-342900">
              <a:spcAft>
                <a:spcPts val="600"/>
              </a:spcAft>
              <a:buSzPct val="100000"/>
              <a:buChar char="•"/>
            </a:pPr>
            <a:r>
              <a:rPr lang="en-US" sz="1300" dirty="0">
                <a:solidFill>
                  <a:schemeClr val="tx1"/>
                </a:solidFill>
              </a:rPr>
              <a:t>사례 간 공통점·차이 비교 → 판단과 행동의 변화, 관리 공백과 조정 과정</a:t>
            </a:r>
            <a:endParaRPr lang="en-US" sz="1300" dirty="0"/>
          </a:p>
        </p:txBody>
      </p:sp>
      <p:sp>
        <p:nvSpPr>
          <p:cNvPr id="32" name="Text 30"/>
          <p:cNvSpPr txBox="1"/>
          <p:nvPr/>
        </p:nvSpPr>
        <p:spPr>
          <a:xfrm>
            <a:off x="502920" y="5440680"/>
            <a:ext cx="1463040" cy="640080"/>
          </a:xfrm>
          <a:prstGeom prst="rect">
            <a:avLst/>
          </a:prstGeom>
          <a:noFill/>
          <a:ln/>
        </p:spPr>
        <p:txBody>
          <a:bodyPr wrap="square" lIns="0" tIns="0" rIns="0" bIns="0" rtlCol="0" anchor="ctr"/>
          <a:lstStyle/>
          <a:p>
            <a:pPr indent="0" marL="0">
              <a:buNone/>
            </a:pPr>
            <a:r>
              <a:rPr lang="en-US" sz="1600" b="1" dirty="0">
                <a:solidFill>
                  <a:schemeClr val="accent1"/>
                </a:solidFill>
              </a:rPr>
              <a:t>연구 윤리와 구분</a:t>
            </a:r>
            <a:endParaRPr lang="en-US" sz="1600" dirty="0"/>
          </a:p>
        </p:txBody>
      </p:sp>
      <p:sp>
        <p:nvSpPr>
          <p:cNvPr id="33" name="ethic-chip"/>
          <p:cNvSpPr/>
          <p:nvPr/>
        </p:nvSpPr>
        <p:spPr>
          <a:xfrm>
            <a:off x="2057400" y="5440680"/>
            <a:ext cx="2618232" cy="640080"/>
          </a:xfrm>
          <a:prstGeom prst="roundRect">
            <a:avLst>
              <a:gd name="adj" fmla="val 11429"/>
            </a:avLst>
          </a:prstGeom>
          <a:solidFill>
            <a:schemeClr val="accent4"/>
          </a:solidFill>
          <a:ln/>
        </p:spPr>
      </p:sp>
      <p:sp>
        <p:nvSpPr>
          <p:cNvPr id="34" name="Text 32"/>
          <p:cNvSpPr txBox="1"/>
          <p:nvPr/>
        </p:nvSpPr>
        <p:spPr>
          <a:xfrm>
            <a:off x="2148840" y="5440680"/>
            <a:ext cx="2435352" cy="640080"/>
          </a:xfrm>
          <a:prstGeom prst="rect">
            <a:avLst/>
          </a:prstGeom>
          <a:noFill/>
          <a:ln/>
        </p:spPr>
        <p:txBody>
          <a:bodyPr wrap="square" lIns="0" tIns="0" rIns="0" bIns="0" rtlCol="0" anchor="ctr"/>
          <a:lstStyle/>
          <a:p>
            <a:pPr algn="ctr" indent="0" marL="0">
              <a:buNone/>
            </a:pPr>
            <a:r>
              <a:rPr lang="en-US" sz="1400" b="1" dirty="0">
                <a:solidFill>
                  <a:schemeClr val="tx1"/>
                </a:solidFill>
              </a:rPr>
              <a:t>참여자 동의 · 익명성 보장</a:t>
            </a:r>
            <a:endParaRPr lang="en-US" sz="1400" dirty="0"/>
          </a:p>
        </p:txBody>
      </p:sp>
      <p:sp>
        <p:nvSpPr>
          <p:cNvPr id="35" name="ethic-chip"/>
          <p:cNvSpPr/>
          <p:nvPr/>
        </p:nvSpPr>
        <p:spPr>
          <a:xfrm>
            <a:off x="4812792" y="5440680"/>
            <a:ext cx="2618232" cy="640080"/>
          </a:xfrm>
          <a:prstGeom prst="roundRect">
            <a:avLst>
              <a:gd name="adj" fmla="val 11429"/>
            </a:avLst>
          </a:prstGeom>
          <a:solidFill>
            <a:schemeClr val="accent4"/>
          </a:solidFill>
          <a:ln/>
        </p:spPr>
      </p:sp>
      <p:sp>
        <p:nvSpPr>
          <p:cNvPr id="36" name="Text 34"/>
          <p:cNvSpPr txBox="1"/>
          <p:nvPr/>
        </p:nvSpPr>
        <p:spPr>
          <a:xfrm>
            <a:off x="4904232" y="5440680"/>
            <a:ext cx="2435352" cy="640080"/>
          </a:xfrm>
          <a:prstGeom prst="rect">
            <a:avLst/>
          </a:prstGeom>
          <a:noFill/>
          <a:ln/>
        </p:spPr>
        <p:txBody>
          <a:bodyPr wrap="square" lIns="0" tIns="0" rIns="0" bIns="0" rtlCol="0" anchor="ctr"/>
          <a:lstStyle/>
          <a:p>
            <a:pPr algn="ctr" indent="0" marL="0">
              <a:buNone/>
            </a:pPr>
            <a:r>
              <a:rPr lang="en-US" sz="1400" b="1" dirty="0">
                <a:solidFill>
                  <a:schemeClr val="tx1"/>
                </a:solidFill>
              </a:rPr>
              <a:t>실무 경험과 연구 자료 구분</a:t>
            </a:r>
            <a:endParaRPr lang="en-US" sz="1400" dirty="0"/>
          </a:p>
        </p:txBody>
      </p:sp>
      <p:sp>
        <p:nvSpPr>
          <p:cNvPr id="37" name="ethic-chip"/>
          <p:cNvSpPr/>
          <p:nvPr/>
        </p:nvSpPr>
        <p:spPr>
          <a:xfrm>
            <a:off x="7568184" y="5440680"/>
            <a:ext cx="2618232" cy="640080"/>
          </a:xfrm>
          <a:prstGeom prst="roundRect">
            <a:avLst>
              <a:gd name="adj" fmla="val 11429"/>
            </a:avLst>
          </a:prstGeom>
          <a:solidFill>
            <a:schemeClr val="accent4"/>
          </a:solidFill>
          <a:ln/>
        </p:spPr>
      </p:sp>
      <p:sp>
        <p:nvSpPr>
          <p:cNvPr id="38" name="Text 36"/>
          <p:cNvSpPr txBox="1"/>
          <p:nvPr/>
        </p:nvSpPr>
        <p:spPr>
          <a:xfrm>
            <a:off x="7659624" y="5440680"/>
            <a:ext cx="2435352" cy="640080"/>
          </a:xfrm>
          <a:prstGeom prst="rect">
            <a:avLst/>
          </a:prstGeom>
          <a:noFill/>
          <a:ln/>
        </p:spPr>
        <p:txBody>
          <a:bodyPr wrap="square" lIns="0" tIns="0" rIns="0" bIns="0" rtlCol="0" anchor="ctr"/>
          <a:lstStyle/>
          <a:p>
            <a:pPr algn="ctr" indent="0" marL="0">
              <a:buNone/>
            </a:pPr>
            <a:r>
              <a:rPr lang="en-US" sz="1400" b="1" dirty="0">
                <a:solidFill>
                  <a:schemeClr val="tx1"/>
                </a:solidFill>
              </a:rPr>
              <a:t>생태적 성과와 구분</a:t>
            </a:r>
            <a:endParaRPr lang="en-US" sz="1400" dirty="0"/>
          </a:p>
        </p:txBody>
      </p:sp>
      <p:sp>
        <p:nvSpPr>
          <p:cNvPr id="39" name="callout"/>
          <p:cNvSpPr/>
          <p:nvPr/>
        </p:nvSpPr>
        <p:spPr>
          <a:xfrm>
            <a:off x="502920" y="6355080"/>
            <a:ext cx="9683496" cy="530352"/>
          </a:xfrm>
          <a:prstGeom prst="roundRect">
            <a:avLst>
              <a:gd name="adj" fmla="val 13793"/>
            </a:avLst>
          </a:prstGeom>
          <a:solidFill>
            <a:schemeClr val="accent3"/>
          </a:solidFill>
          <a:ln/>
        </p:spPr>
      </p:sp>
      <p:sp>
        <p:nvSpPr>
          <p:cNvPr id="40" name="Text 38"/>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한 계절의 단면이 아니라, 관리 방식이 바뀌는 과정을 반복해서 봅니다</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47472"/>
            <a:ext cx="4572000" cy="365760"/>
          </a:xfrm>
          <a:prstGeom prst="rect">
            <a:avLst/>
          </a:prstGeom>
          <a:noFill/>
          <a:ln/>
        </p:spPr>
        <p:txBody>
          <a:bodyPr wrap="square" lIns="0" tIns="0" rIns="0" bIns="0" rtlCol="0" anchor="ctr"/>
          <a:lstStyle/>
          <a:p>
            <a:pPr indent="0" marL="0">
              <a:buNone/>
            </a:pPr>
            <a:r>
              <a:rPr lang="en-US" sz="1600" b="1" dirty="0">
                <a:solidFill>
                  <a:schemeClr val="accent5"/>
                </a:solidFill>
              </a:rPr>
              <a:t>추진 계획과 보완</a:t>
            </a:r>
            <a:endParaRPr lang="en-US" sz="1600" dirty="0"/>
          </a:p>
        </p:txBody>
      </p:sp>
      <p:sp>
        <p:nvSpPr>
          <p:cNvPr id="3" name="Text 1"/>
          <p:cNvSpPr txBox="1"/>
          <p:nvPr/>
        </p:nvSpPr>
        <p:spPr>
          <a:xfrm>
            <a:off x="6528816" y="347472"/>
            <a:ext cx="3657600" cy="365760"/>
          </a:xfrm>
          <a:prstGeom prst="rect">
            <a:avLst/>
          </a:prstGeom>
          <a:noFill/>
          <a:ln/>
        </p:spPr>
        <p:txBody>
          <a:bodyPr wrap="square" lIns="0" tIns="0" rIns="0" bIns="0" rtlCol="0" anchor="ctr"/>
          <a:lstStyle/>
          <a:p>
            <a:pPr algn="r" indent="0" marL="0">
              <a:buNone/>
            </a:pPr>
            <a:r>
              <a:rPr lang="en-US" sz="1400" b="1" dirty="0">
                <a:solidFill>
                  <a:schemeClr val="accent2"/>
                </a:solidFill>
              </a:rPr>
              <a:t>08  </a:t>
            </a:r>
            <a:pPr algn="r" indent="0" marL="0">
              <a:buNone/>
            </a:pPr>
            <a:r>
              <a:rPr lang="en-US" sz="1400" dirty="0">
                <a:solidFill>
                  <a:schemeClr val="accent5"/>
                </a:solidFill>
              </a:rPr>
              <a:t>박사과정 연구계획</a:t>
            </a:r>
            <a:endParaRPr lang="en-US" sz="1400" dirty="0"/>
          </a:p>
        </p:txBody>
      </p:sp>
      <p:sp>
        <p:nvSpPr>
          <p:cNvPr id="4" name="Text 1"/>
          <p:cNvSpPr/>
          <p:nvPr>
            <p:ph idx="101"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tx1"/>
                </a:solidFill>
              </a:rPr>
              <a:t>단계별로 연구를 쌓아 가고,</a:t>
            </a:r>
            <a:endParaRPr lang="en-US" sz="2500" dirty="0"/>
          </a:p>
          <a:p>
            <a:pPr algn="ctr" indent="0" marL="0">
              <a:buNone/>
            </a:pPr>
            <a:r>
              <a:rPr lang="en-US" sz="2500" b="1" dirty="0">
                <a:solidFill>
                  <a:schemeClr val="tx1"/>
                </a:solidFill>
              </a:rPr>
              <a:t>한계는 미리 정해 두고 보완하겠습니다</a:t>
            </a:r>
            <a:endParaRPr lang="en-US" sz="2500" dirty="0"/>
          </a:p>
        </p:txBody>
      </p:sp>
      <p:sp>
        <p:nvSpPr>
          <p:cNvPr id="5" name="phase-card"/>
          <p:cNvSpPr/>
          <p:nvPr/>
        </p:nvSpPr>
        <p:spPr>
          <a:xfrm>
            <a:off x="502920" y="1783080"/>
            <a:ext cx="3063240" cy="2148840"/>
          </a:xfrm>
          <a:prstGeom prst="roundRect">
            <a:avLst>
              <a:gd name="adj" fmla="val 3404"/>
            </a:avLst>
          </a:prstGeom>
          <a:solidFill>
            <a:schemeClr val="bg2"/>
          </a:solidFill>
          <a:ln/>
        </p:spPr>
      </p:sp>
      <p:sp>
        <p:nvSpPr>
          <p:cNvPr id="6" name="phase-head"/>
          <p:cNvSpPr/>
          <p:nvPr/>
        </p:nvSpPr>
        <p:spPr>
          <a:xfrm>
            <a:off x="502920" y="1783080"/>
            <a:ext cx="3063240" cy="640080"/>
          </a:xfrm>
          <a:prstGeom prst="roundRect">
            <a:avLst>
              <a:gd name="adj" fmla="val 11429"/>
            </a:avLst>
          </a:prstGeom>
          <a:solidFill>
            <a:schemeClr val="accent1"/>
          </a:solidFill>
          <a:ln/>
        </p:spPr>
      </p:sp>
      <p:sp>
        <p:nvSpPr>
          <p:cNvPr id="7" name="Text 5"/>
          <p:cNvSpPr txBox="1"/>
          <p:nvPr/>
        </p:nvSpPr>
        <p:spPr>
          <a:xfrm>
            <a:off x="685800" y="1783080"/>
            <a:ext cx="1188720" cy="640080"/>
          </a:xfrm>
          <a:prstGeom prst="rect">
            <a:avLst/>
          </a:prstGeom>
          <a:noFill/>
          <a:ln/>
        </p:spPr>
        <p:txBody>
          <a:bodyPr wrap="square" lIns="0" tIns="0" rIns="0" bIns="0" rtlCol="0" anchor="ctr"/>
          <a:lstStyle/>
          <a:p>
            <a:pPr indent="0" marL="0">
              <a:buNone/>
            </a:pPr>
            <a:r>
              <a:rPr lang="en-US" sz="1900" b="1" dirty="0">
                <a:solidFill>
                  <a:schemeClr val="accent3"/>
                </a:solidFill>
              </a:rPr>
              <a:t>1년 차</a:t>
            </a:r>
            <a:endParaRPr lang="en-US" sz="1900" dirty="0"/>
          </a:p>
        </p:txBody>
      </p:sp>
      <p:sp>
        <p:nvSpPr>
          <p:cNvPr id="8" name="Text 6"/>
          <p:cNvSpPr txBox="1"/>
          <p:nvPr/>
        </p:nvSpPr>
        <p:spPr>
          <a:xfrm>
            <a:off x="1920240" y="1783080"/>
            <a:ext cx="1554480" cy="640080"/>
          </a:xfrm>
          <a:prstGeom prst="rect">
            <a:avLst/>
          </a:prstGeom>
          <a:noFill/>
          <a:ln/>
        </p:spPr>
        <p:txBody>
          <a:bodyPr wrap="square" lIns="0" tIns="0" rIns="0" bIns="0" rtlCol="0" anchor="ctr"/>
          <a:lstStyle/>
          <a:p>
            <a:pPr indent="0" marL="0">
              <a:buNone/>
            </a:pPr>
            <a:r>
              <a:rPr lang="en-US" sz="1400" b="1" dirty="0">
                <a:solidFill>
                  <a:schemeClr val="bg1"/>
                </a:solidFill>
              </a:rPr>
              <a:t>개념과 조사 설계</a:t>
            </a:r>
            <a:endParaRPr lang="en-US" sz="1400" dirty="0"/>
          </a:p>
        </p:txBody>
      </p:sp>
      <p:sp>
        <p:nvSpPr>
          <p:cNvPr id="9" name="Text 7"/>
          <p:cNvSpPr txBox="1"/>
          <p:nvPr/>
        </p:nvSpPr>
        <p:spPr>
          <a:xfrm>
            <a:off x="685800" y="2560320"/>
            <a:ext cx="269748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조경이론·환경미학·질적 연구방법 학습</a:t>
            </a:r>
            <a:endParaRPr lang="en-US" sz="1400" dirty="0"/>
          </a:p>
          <a:p>
            <a:pPr marL="342900" indent="-342900">
              <a:spcAft>
                <a:spcPts val="500"/>
              </a:spcAft>
              <a:buSzPct val="100000"/>
              <a:buChar char="•"/>
            </a:pPr>
            <a:r>
              <a:rPr lang="en-US" sz="1400" dirty="0">
                <a:solidFill>
                  <a:schemeClr val="tx1"/>
                </a:solidFill>
              </a:rPr>
              <a:t>문헌 검토와 예비조사</a:t>
            </a:r>
            <a:endParaRPr lang="en-US" sz="1400" dirty="0"/>
          </a:p>
          <a:p>
            <a:pPr marL="342900" indent="-342900">
              <a:spcAft>
                <a:spcPts val="500"/>
              </a:spcAft>
              <a:buSzPct val="100000"/>
              <a:buChar char="•"/>
            </a:pPr>
            <a:r>
              <a:rPr lang="en-US" sz="1400" dirty="0">
                <a:solidFill>
                  <a:schemeClr val="tx1"/>
                </a:solidFill>
              </a:rPr>
              <a:t>연구질문·분석 틀·사례 선정 기준 구체화</a:t>
            </a:r>
            <a:endParaRPr lang="en-US" sz="1400" dirty="0"/>
          </a:p>
        </p:txBody>
      </p:sp>
      <p:sp>
        <p:nvSpPr>
          <p:cNvPr id="10" name="arrow"/>
          <p:cNvSpPr/>
          <p:nvPr/>
        </p:nvSpPr>
        <p:spPr>
          <a:xfrm>
            <a:off x="3584448" y="1965960"/>
            <a:ext cx="210312" cy="274320"/>
          </a:xfrm>
          <a:prstGeom prst="rightArrow">
            <a:avLst/>
          </a:prstGeom>
          <a:solidFill>
            <a:schemeClr val="accent2"/>
          </a:solidFill>
          <a:ln/>
        </p:spPr>
      </p:sp>
      <p:sp>
        <p:nvSpPr>
          <p:cNvPr id="11" name="phase-card"/>
          <p:cNvSpPr/>
          <p:nvPr/>
        </p:nvSpPr>
        <p:spPr>
          <a:xfrm>
            <a:off x="3813048" y="1783080"/>
            <a:ext cx="3063240" cy="2148840"/>
          </a:xfrm>
          <a:prstGeom prst="roundRect">
            <a:avLst>
              <a:gd name="adj" fmla="val 3404"/>
            </a:avLst>
          </a:prstGeom>
          <a:solidFill>
            <a:schemeClr val="bg2"/>
          </a:solidFill>
          <a:ln/>
        </p:spPr>
      </p:sp>
      <p:sp>
        <p:nvSpPr>
          <p:cNvPr id="12" name="phase-head"/>
          <p:cNvSpPr/>
          <p:nvPr/>
        </p:nvSpPr>
        <p:spPr>
          <a:xfrm>
            <a:off x="3813048" y="1783080"/>
            <a:ext cx="3063240" cy="640080"/>
          </a:xfrm>
          <a:prstGeom prst="roundRect">
            <a:avLst>
              <a:gd name="adj" fmla="val 11429"/>
            </a:avLst>
          </a:prstGeom>
          <a:solidFill>
            <a:schemeClr val="accent1"/>
          </a:solidFill>
          <a:ln/>
        </p:spPr>
      </p:sp>
      <p:sp>
        <p:nvSpPr>
          <p:cNvPr id="13" name="Text 11"/>
          <p:cNvSpPr txBox="1"/>
          <p:nvPr/>
        </p:nvSpPr>
        <p:spPr>
          <a:xfrm>
            <a:off x="3995928" y="1783080"/>
            <a:ext cx="1188720" cy="640080"/>
          </a:xfrm>
          <a:prstGeom prst="rect">
            <a:avLst/>
          </a:prstGeom>
          <a:noFill/>
          <a:ln/>
        </p:spPr>
        <p:txBody>
          <a:bodyPr wrap="square" lIns="0" tIns="0" rIns="0" bIns="0" rtlCol="0" anchor="ctr"/>
          <a:lstStyle/>
          <a:p>
            <a:pPr indent="0" marL="0">
              <a:buNone/>
            </a:pPr>
            <a:r>
              <a:rPr lang="en-US" sz="1900" b="1" dirty="0">
                <a:solidFill>
                  <a:schemeClr val="accent3"/>
                </a:solidFill>
              </a:rPr>
              <a:t>2–3년 차</a:t>
            </a:r>
            <a:endParaRPr lang="en-US" sz="1900" dirty="0"/>
          </a:p>
        </p:txBody>
      </p:sp>
      <p:sp>
        <p:nvSpPr>
          <p:cNvPr id="14" name="Text 12"/>
          <p:cNvSpPr txBox="1"/>
          <p:nvPr/>
        </p:nvSpPr>
        <p:spPr>
          <a:xfrm>
            <a:off x="5230368" y="1783080"/>
            <a:ext cx="1554480" cy="640080"/>
          </a:xfrm>
          <a:prstGeom prst="rect">
            <a:avLst/>
          </a:prstGeom>
          <a:noFill/>
          <a:ln/>
        </p:spPr>
        <p:txBody>
          <a:bodyPr wrap="square" lIns="0" tIns="0" rIns="0" bIns="0" rtlCol="0" anchor="ctr"/>
          <a:lstStyle/>
          <a:p>
            <a:pPr indent="0" marL="0">
              <a:buNone/>
            </a:pPr>
            <a:r>
              <a:rPr lang="en-US" sz="1400" b="1" dirty="0">
                <a:solidFill>
                  <a:schemeClr val="bg1"/>
                </a:solidFill>
              </a:rPr>
              <a:t>현장조사·비교분석</a:t>
            </a:r>
            <a:endParaRPr lang="en-US" sz="1400" dirty="0"/>
          </a:p>
        </p:txBody>
      </p:sp>
      <p:sp>
        <p:nvSpPr>
          <p:cNvPr id="15" name="Text 13"/>
          <p:cNvSpPr txBox="1"/>
          <p:nvPr/>
        </p:nvSpPr>
        <p:spPr>
          <a:xfrm>
            <a:off x="3995928" y="2560320"/>
            <a:ext cx="269748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계절별 현장관찰·심층면담</a:t>
            </a:r>
            <a:endParaRPr lang="en-US" sz="1400" dirty="0"/>
          </a:p>
          <a:p>
            <a:pPr marL="342900" indent="-342900">
              <a:spcAft>
                <a:spcPts val="500"/>
              </a:spcAft>
              <a:buSzPct val="100000"/>
              <a:buChar char="•"/>
            </a:pPr>
            <a:r>
              <a:rPr lang="en-US" sz="1400" dirty="0">
                <a:solidFill>
                  <a:schemeClr val="tx1"/>
                </a:solidFill>
              </a:rPr>
              <a:t>자료 대조와 사례 간 비교분석</a:t>
            </a:r>
            <a:endParaRPr lang="en-US" sz="1400" dirty="0"/>
          </a:p>
          <a:p>
            <a:pPr marL="342900" indent="-342900">
              <a:spcAft>
                <a:spcPts val="500"/>
              </a:spcAft>
              <a:buSzPct val="100000"/>
              <a:buChar char="•"/>
            </a:pPr>
            <a:r>
              <a:rPr lang="en-US" sz="1400" dirty="0">
                <a:solidFill>
                  <a:schemeClr val="tx1"/>
                </a:solidFill>
              </a:rPr>
              <a:t>돌봄의 변화와 지속 조건 도출</a:t>
            </a:r>
            <a:endParaRPr lang="en-US" sz="1400" dirty="0"/>
          </a:p>
        </p:txBody>
      </p:sp>
      <p:sp>
        <p:nvSpPr>
          <p:cNvPr id="16" name="arrow"/>
          <p:cNvSpPr/>
          <p:nvPr/>
        </p:nvSpPr>
        <p:spPr>
          <a:xfrm>
            <a:off x="6894576" y="1965960"/>
            <a:ext cx="210312" cy="274320"/>
          </a:xfrm>
          <a:prstGeom prst="rightArrow">
            <a:avLst/>
          </a:prstGeom>
          <a:solidFill>
            <a:schemeClr val="accent2"/>
          </a:solidFill>
          <a:ln/>
        </p:spPr>
      </p:sp>
      <p:sp>
        <p:nvSpPr>
          <p:cNvPr id="17" name="phase-card"/>
          <p:cNvSpPr/>
          <p:nvPr/>
        </p:nvSpPr>
        <p:spPr>
          <a:xfrm>
            <a:off x="7123176" y="1783080"/>
            <a:ext cx="3063240" cy="2148840"/>
          </a:xfrm>
          <a:prstGeom prst="roundRect">
            <a:avLst>
              <a:gd name="adj" fmla="val 3404"/>
            </a:avLst>
          </a:prstGeom>
          <a:solidFill>
            <a:schemeClr val="bg2"/>
          </a:solidFill>
          <a:ln/>
        </p:spPr>
      </p:sp>
      <p:sp>
        <p:nvSpPr>
          <p:cNvPr id="18" name="phase-head"/>
          <p:cNvSpPr/>
          <p:nvPr/>
        </p:nvSpPr>
        <p:spPr>
          <a:xfrm>
            <a:off x="7123176" y="1783080"/>
            <a:ext cx="3063240" cy="640080"/>
          </a:xfrm>
          <a:prstGeom prst="roundRect">
            <a:avLst>
              <a:gd name="adj" fmla="val 11429"/>
            </a:avLst>
          </a:prstGeom>
          <a:solidFill>
            <a:schemeClr val="tx2"/>
          </a:solidFill>
          <a:ln/>
        </p:spPr>
      </p:sp>
      <p:sp>
        <p:nvSpPr>
          <p:cNvPr id="19" name="Text 17"/>
          <p:cNvSpPr txBox="1"/>
          <p:nvPr/>
        </p:nvSpPr>
        <p:spPr>
          <a:xfrm>
            <a:off x="7306056" y="1783080"/>
            <a:ext cx="1188720" cy="640080"/>
          </a:xfrm>
          <a:prstGeom prst="rect">
            <a:avLst/>
          </a:prstGeom>
          <a:noFill/>
          <a:ln/>
        </p:spPr>
        <p:txBody>
          <a:bodyPr wrap="square" lIns="0" tIns="0" rIns="0" bIns="0" rtlCol="0" anchor="ctr"/>
          <a:lstStyle/>
          <a:p>
            <a:pPr indent="0" marL="0">
              <a:buNone/>
            </a:pPr>
            <a:r>
              <a:rPr lang="en-US" sz="1900" b="1" dirty="0">
                <a:solidFill>
                  <a:schemeClr val="accent3"/>
                </a:solidFill>
              </a:rPr>
              <a:t>이후</a:t>
            </a:r>
            <a:endParaRPr lang="en-US" sz="1900" dirty="0"/>
          </a:p>
        </p:txBody>
      </p:sp>
      <p:sp>
        <p:nvSpPr>
          <p:cNvPr id="20" name="Text 18"/>
          <p:cNvSpPr txBox="1"/>
          <p:nvPr/>
        </p:nvSpPr>
        <p:spPr>
          <a:xfrm>
            <a:off x="8540496" y="1783080"/>
            <a:ext cx="1554480" cy="640080"/>
          </a:xfrm>
          <a:prstGeom prst="rect">
            <a:avLst/>
          </a:prstGeom>
          <a:noFill/>
          <a:ln/>
        </p:spPr>
        <p:txBody>
          <a:bodyPr wrap="square" lIns="0" tIns="0" rIns="0" bIns="0" rtlCol="0" anchor="ctr"/>
          <a:lstStyle/>
          <a:p>
            <a:pPr indent="0" marL="0">
              <a:buNone/>
            </a:pPr>
            <a:r>
              <a:rPr lang="en-US" sz="1400" b="1" dirty="0">
                <a:solidFill>
                  <a:schemeClr val="bg1"/>
                </a:solidFill>
              </a:rPr>
              <a:t>논문화와 결과 통합</a:t>
            </a:r>
            <a:endParaRPr lang="en-US" sz="1400" dirty="0"/>
          </a:p>
        </p:txBody>
      </p:sp>
      <p:sp>
        <p:nvSpPr>
          <p:cNvPr id="21" name="Text 19"/>
          <p:cNvSpPr txBox="1"/>
          <p:nvPr/>
        </p:nvSpPr>
        <p:spPr>
          <a:xfrm>
            <a:off x="7306056" y="2560320"/>
            <a:ext cx="2697480" cy="12801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주제별 학술논문 작성</a:t>
            </a:r>
            <a:endParaRPr lang="en-US" sz="1400" dirty="0"/>
          </a:p>
          <a:p>
            <a:pPr marL="342900" indent="-342900">
              <a:spcAft>
                <a:spcPts val="500"/>
              </a:spcAft>
              <a:buSzPct val="100000"/>
              <a:buChar char="•"/>
            </a:pPr>
            <a:r>
              <a:rPr lang="en-US" sz="1400" dirty="0">
                <a:solidFill>
                  <a:schemeClr val="tx1"/>
                </a:solidFill>
              </a:rPr>
              <a:t>학위논문에서 결과 통합</a:t>
            </a:r>
            <a:endParaRPr lang="en-US" sz="1400" dirty="0"/>
          </a:p>
          <a:p>
            <a:pPr marL="342900" indent="-342900">
              <a:spcAft>
                <a:spcPts val="500"/>
              </a:spcAft>
              <a:buSzPct val="100000"/>
              <a:buChar char="•"/>
            </a:pPr>
            <a:r>
              <a:rPr lang="en-US" sz="1400" dirty="0">
                <a:solidFill>
                  <a:schemeClr val="tx1"/>
                </a:solidFill>
              </a:rPr>
              <a:t>설계·운영 검토 항목으로 정리</a:t>
            </a:r>
            <a:endParaRPr lang="en-US" sz="1400" dirty="0"/>
          </a:p>
        </p:txBody>
      </p:sp>
      <p:sp>
        <p:nvSpPr>
          <p:cNvPr id="22" name="Text 20"/>
          <p:cNvSpPr txBox="1"/>
          <p:nvPr/>
        </p:nvSpPr>
        <p:spPr>
          <a:xfrm>
            <a:off x="502920" y="4114800"/>
            <a:ext cx="4572000" cy="365760"/>
          </a:xfrm>
          <a:prstGeom prst="rect">
            <a:avLst/>
          </a:prstGeom>
          <a:noFill/>
          <a:ln/>
        </p:spPr>
        <p:txBody>
          <a:bodyPr wrap="square" lIns="0" tIns="0" rIns="0" bIns="0" rtlCol="0" anchor="ctr"/>
          <a:lstStyle/>
          <a:p>
            <a:pPr indent="0" marL="0">
              <a:buNone/>
            </a:pPr>
            <a:r>
              <a:rPr lang="en-US" sz="1800" b="1" dirty="0">
                <a:solidFill>
                  <a:schemeClr val="accent1"/>
                </a:solidFill>
              </a:rPr>
              <a:t>예상하는 한계와 보완 방향</a:t>
            </a:r>
            <a:endParaRPr lang="en-US" sz="1800" dirty="0"/>
          </a:p>
        </p:txBody>
      </p:sp>
      <p:sp>
        <p:nvSpPr>
          <p:cNvPr id="23" name="limit-card"/>
          <p:cNvSpPr/>
          <p:nvPr/>
        </p:nvSpPr>
        <p:spPr>
          <a:xfrm>
            <a:off x="502920" y="4572000"/>
            <a:ext cx="3063240" cy="1645920"/>
          </a:xfrm>
          <a:prstGeom prst="roundRect">
            <a:avLst>
              <a:gd name="adj" fmla="val 4444"/>
            </a:avLst>
          </a:prstGeom>
          <a:solidFill>
            <a:schemeClr val="accent4"/>
          </a:solidFill>
          <a:ln/>
        </p:spPr>
      </p:sp>
      <p:sp>
        <p:nvSpPr>
          <p:cNvPr id="24" name="Text 22"/>
          <p:cNvSpPr txBox="1"/>
          <p:nvPr/>
        </p:nvSpPr>
        <p:spPr>
          <a:xfrm>
            <a:off x="685800" y="4681728"/>
            <a:ext cx="2697480" cy="365760"/>
          </a:xfrm>
          <a:prstGeom prst="rect">
            <a:avLst/>
          </a:prstGeom>
          <a:noFill/>
          <a:ln/>
        </p:spPr>
        <p:txBody>
          <a:bodyPr wrap="square" lIns="0" tIns="0" rIns="0" bIns="0" rtlCol="0" anchor="ctr"/>
          <a:lstStyle/>
          <a:p>
            <a:pPr indent="0" marL="0">
              <a:buNone/>
            </a:pPr>
            <a:r>
              <a:rPr lang="en-US" sz="1550" b="1" dirty="0">
                <a:solidFill>
                  <a:schemeClr val="accent1"/>
                </a:solidFill>
              </a:rPr>
              <a:t>소수 사례의 한계</a:t>
            </a:r>
            <a:endParaRPr lang="en-US" sz="1550" dirty="0"/>
          </a:p>
        </p:txBody>
      </p:sp>
      <p:sp>
        <p:nvSpPr>
          <p:cNvPr id="25" name="Text 23"/>
          <p:cNvSpPr txBox="1"/>
          <p:nvPr/>
        </p:nvSpPr>
        <p:spPr>
          <a:xfrm>
            <a:off x="685800" y="5102352"/>
            <a:ext cx="2697480" cy="1051560"/>
          </a:xfrm>
          <a:prstGeom prst="rect">
            <a:avLst/>
          </a:prstGeom>
          <a:noFill/>
          <a:ln/>
        </p:spPr>
        <p:txBody>
          <a:bodyPr wrap="square" lIns="0" tIns="0" rIns="0" bIns="0" rtlCol="0" anchor="t"/>
          <a:lstStyle/>
          <a:p>
            <a:pPr indent="0" marL="0">
              <a:buNone/>
            </a:pPr>
            <a:r>
              <a:rPr lang="en-US" sz="1400" dirty="0">
                <a:solidFill>
                  <a:schemeClr val="tx1"/>
                </a:solidFill>
              </a:rPr>
              <a:t>결과를 모든 정원에 일반화하지 않고, 어떤 조건에서 비슷한 현상이 나타나는지와 적용 한계를 함께 제시</a:t>
            </a:r>
            <a:endParaRPr lang="en-US" sz="1400" dirty="0"/>
          </a:p>
        </p:txBody>
      </p:sp>
      <p:sp>
        <p:nvSpPr>
          <p:cNvPr id="26" name="limit-card"/>
          <p:cNvSpPr/>
          <p:nvPr/>
        </p:nvSpPr>
        <p:spPr>
          <a:xfrm>
            <a:off x="3813048" y="4572000"/>
            <a:ext cx="3063240" cy="1645920"/>
          </a:xfrm>
          <a:prstGeom prst="roundRect">
            <a:avLst>
              <a:gd name="adj" fmla="val 4444"/>
            </a:avLst>
          </a:prstGeom>
          <a:solidFill>
            <a:schemeClr val="accent4"/>
          </a:solidFill>
          <a:ln/>
        </p:spPr>
      </p:sp>
      <p:sp>
        <p:nvSpPr>
          <p:cNvPr id="27" name="Text 25"/>
          <p:cNvSpPr txBox="1"/>
          <p:nvPr/>
        </p:nvSpPr>
        <p:spPr>
          <a:xfrm>
            <a:off x="3995928" y="4681728"/>
            <a:ext cx="2697480" cy="365760"/>
          </a:xfrm>
          <a:prstGeom prst="rect">
            <a:avLst/>
          </a:prstGeom>
          <a:noFill/>
          <a:ln/>
        </p:spPr>
        <p:txBody>
          <a:bodyPr wrap="square" lIns="0" tIns="0" rIns="0" bIns="0" rtlCol="0" anchor="ctr"/>
          <a:lstStyle/>
          <a:p>
            <a:pPr indent="0" marL="0">
              <a:buNone/>
            </a:pPr>
            <a:r>
              <a:rPr lang="en-US" sz="1550" b="1" dirty="0">
                <a:solidFill>
                  <a:schemeClr val="accent1"/>
                </a:solidFill>
              </a:rPr>
              <a:t>내부자 시각의 위험</a:t>
            </a:r>
            <a:endParaRPr lang="en-US" sz="1550" dirty="0"/>
          </a:p>
        </p:txBody>
      </p:sp>
      <p:sp>
        <p:nvSpPr>
          <p:cNvPr id="28" name="Text 26"/>
          <p:cNvSpPr txBox="1"/>
          <p:nvPr/>
        </p:nvSpPr>
        <p:spPr>
          <a:xfrm>
            <a:off x="3995928" y="5102352"/>
            <a:ext cx="2697480" cy="1051560"/>
          </a:xfrm>
          <a:prstGeom prst="rect">
            <a:avLst/>
          </a:prstGeom>
          <a:noFill/>
          <a:ln/>
        </p:spPr>
        <p:txBody>
          <a:bodyPr wrap="square" lIns="0" tIns="0" rIns="0" bIns="0" rtlCol="0" anchor="t"/>
          <a:lstStyle/>
          <a:p>
            <a:pPr indent="0" marL="0">
              <a:buNone/>
            </a:pPr>
            <a:r>
              <a:rPr lang="en-US" sz="1400" dirty="0">
                <a:solidFill>
                  <a:schemeClr val="tx1"/>
                </a:solidFill>
              </a:rPr>
              <a:t>실무자로서 아는 사실과 새로 확인한 자료를 구분해 기록하고, 면담·관찰·문서를 서로 대조</a:t>
            </a:r>
            <a:endParaRPr lang="en-US" sz="1400" dirty="0"/>
          </a:p>
        </p:txBody>
      </p:sp>
      <p:sp>
        <p:nvSpPr>
          <p:cNvPr id="29" name="limit-card"/>
          <p:cNvSpPr/>
          <p:nvPr/>
        </p:nvSpPr>
        <p:spPr>
          <a:xfrm>
            <a:off x="7123176" y="4572000"/>
            <a:ext cx="3063240" cy="1645920"/>
          </a:xfrm>
          <a:prstGeom prst="roundRect">
            <a:avLst>
              <a:gd name="adj" fmla="val 4444"/>
            </a:avLst>
          </a:prstGeom>
          <a:solidFill>
            <a:schemeClr val="accent4"/>
          </a:solidFill>
          <a:ln/>
        </p:spPr>
      </p:sp>
      <p:sp>
        <p:nvSpPr>
          <p:cNvPr id="30" name="Text 28"/>
          <p:cNvSpPr txBox="1"/>
          <p:nvPr/>
        </p:nvSpPr>
        <p:spPr>
          <a:xfrm>
            <a:off x="7306056" y="4681728"/>
            <a:ext cx="2697480" cy="365760"/>
          </a:xfrm>
          <a:prstGeom prst="rect">
            <a:avLst/>
          </a:prstGeom>
          <a:noFill/>
          <a:ln/>
        </p:spPr>
        <p:txBody>
          <a:bodyPr wrap="square" lIns="0" tIns="0" rIns="0" bIns="0" rtlCol="0" anchor="ctr"/>
          <a:lstStyle/>
          <a:p>
            <a:pPr indent="0" marL="0">
              <a:buNone/>
            </a:pPr>
            <a:r>
              <a:rPr lang="en-US" sz="1550" b="1" dirty="0">
                <a:solidFill>
                  <a:schemeClr val="accent1"/>
                </a:solidFill>
              </a:rPr>
              <a:t>돌봄과 생태 성과의 구분</a:t>
            </a:r>
            <a:endParaRPr lang="en-US" sz="1550" dirty="0"/>
          </a:p>
        </p:txBody>
      </p:sp>
      <p:sp>
        <p:nvSpPr>
          <p:cNvPr id="31" name="Text 29"/>
          <p:cNvSpPr txBox="1"/>
          <p:nvPr/>
        </p:nvSpPr>
        <p:spPr>
          <a:xfrm>
            <a:off x="7306056" y="5102352"/>
            <a:ext cx="2697480" cy="1051560"/>
          </a:xfrm>
          <a:prstGeom prst="rect">
            <a:avLst/>
          </a:prstGeom>
          <a:noFill/>
          <a:ln/>
        </p:spPr>
        <p:txBody>
          <a:bodyPr wrap="square" lIns="0" tIns="0" rIns="0" bIns="0" rtlCol="0" anchor="t"/>
          <a:lstStyle/>
          <a:p>
            <a:pPr indent="0" marL="0">
              <a:buNone/>
            </a:pPr>
            <a:r>
              <a:rPr lang="en-US" sz="1400" dirty="0">
                <a:solidFill>
                  <a:schemeClr val="tx1"/>
                </a:solidFill>
              </a:rPr>
              <a:t>‘좋은 돌봄’을 생태적 성과로 단정하지 않고, 식물 상태·관리 기록 등 확인 가능한 범위로 제한</a:t>
            </a:r>
            <a:endParaRPr lang="en-US" sz="1400" dirty="0"/>
          </a:p>
        </p:txBody>
      </p:sp>
      <p:sp>
        <p:nvSpPr>
          <p:cNvPr id="32" name="callout"/>
          <p:cNvSpPr/>
          <p:nvPr/>
        </p:nvSpPr>
        <p:spPr>
          <a:xfrm>
            <a:off x="502920" y="6355080"/>
            <a:ext cx="9683496" cy="530352"/>
          </a:xfrm>
          <a:prstGeom prst="roundRect">
            <a:avLst>
              <a:gd name="adj" fmla="val 13793"/>
            </a:avLst>
          </a:prstGeom>
          <a:solidFill>
            <a:schemeClr val="accent3"/>
          </a:solidFill>
          <a:ln/>
        </p:spPr>
      </p:sp>
      <p:sp>
        <p:nvSpPr>
          <p:cNvPr id="33" name="Text 31"/>
          <p:cNvSpPr txBox="1"/>
          <p:nvPr/>
        </p:nvSpPr>
        <p:spPr>
          <a:xfrm>
            <a:off x="685800" y="6355080"/>
            <a:ext cx="9317736" cy="530352"/>
          </a:xfrm>
          <a:prstGeom prst="rect">
            <a:avLst/>
          </a:prstGeom>
          <a:noFill/>
          <a:ln/>
        </p:spPr>
        <p:txBody>
          <a:bodyPr wrap="square" lIns="0" tIns="0" rIns="0" bIns="0" rtlCol="0" anchor="ctr"/>
          <a:lstStyle/>
          <a:p>
            <a:pPr algn="ctr" indent="0" marL="0">
              <a:buNone/>
            </a:pPr>
            <a:r>
              <a:rPr lang="en-US" sz="1600" b="1" dirty="0">
                <a:solidFill>
                  <a:schemeClr val="tx1"/>
                </a:solidFill>
              </a:rPr>
              <a:t>질문과 자료의 범위를 먼저 정하고, 단계별로 보완하며 진행하겠습니다</a:t>
            </a:r>
            <a:endParaRPr lang="en-US" sz="16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02920" y="777240"/>
            <a:ext cx="9683496" cy="914400"/>
          </a:xfrm>
          <a:prstGeom prst="rect">
            <a:avLst/>
          </a:prstGeom>
          <a:noFill/>
          <a:ln/>
        </p:spPr>
        <p:txBody>
          <a:bodyPr wrap="square" lIns="0" tIns="0" rIns="0" bIns="0" rtlCol="0" anchor="ctr"/>
          <a:lstStyle/>
          <a:p>
            <a:pPr algn="ctr" indent="0" marL="0">
              <a:buNone/>
            </a:pPr>
            <a:r>
              <a:rPr lang="en-US" sz="2500" b="1" dirty="0">
                <a:solidFill>
                  <a:schemeClr val="bg1"/>
                </a:solidFill>
              </a:rPr>
              <a:t>정원 조성 이후의 시간을 기록하고,</a:t>
            </a:r>
            <a:endParaRPr lang="en-US" sz="2500" dirty="0"/>
          </a:p>
          <a:p>
            <a:pPr algn="ctr" indent="0" marL="0">
              <a:buNone/>
            </a:pPr>
            <a:r>
              <a:rPr lang="en-US" sz="2500" b="1" dirty="0">
                <a:solidFill>
                  <a:schemeClr val="bg1"/>
                </a:solidFill>
              </a:rPr>
              <a:t>그 기록을 현장의 판단에 연결하겠습니다</a:t>
            </a:r>
            <a:endParaRPr lang="en-US" sz="2500" dirty="0"/>
          </a:p>
        </p:txBody>
      </p:sp>
      <p:sp>
        <p:nvSpPr>
          <p:cNvPr id="3" name="Text 1"/>
          <p:cNvSpPr txBox="1"/>
          <p:nvPr/>
        </p:nvSpPr>
        <p:spPr>
          <a:xfrm>
            <a:off x="502920" y="1783080"/>
            <a:ext cx="2743200" cy="320040"/>
          </a:xfrm>
          <a:prstGeom prst="rect">
            <a:avLst/>
          </a:prstGeom>
          <a:noFill/>
          <a:ln/>
        </p:spPr>
        <p:txBody>
          <a:bodyPr wrap="square" lIns="0" tIns="0" rIns="0" bIns="0" rtlCol="0" anchor="t"/>
          <a:lstStyle/>
          <a:p>
            <a:pPr indent="0" marL="0">
              <a:buNone/>
            </a:pPr>
            <a:r>
              <a:rPr lang="en-US" sz="1500" b="1" dirty="0">
                <a:solidFill>
                  <a:schemeClr val="accent2"/>
                </a:solidFill>
              </a:rPr>
              <a:t>기대 기여</a:t>
            </a:r>
            <a:endParaRPr lang="en-US" sz="1500" dirty="0"/>
          </a:p>
        </p:txBody>
      </p:sp>
      <p:sp>
        <p:nvSpPr>
          <p:cNvPr id="4" name="contribution-card"/>
          <p:cNvSpPr/>
          <p:nvPr/>
        </p:nvSpPr>
        <p:spPr>
          <a:xfrm>
            <a:off x="502920" y="2148840"/>
            <a:ext cx="3063240" cy="1783080"/>
          </a:xfrm>
          <a:prstGeom prst="roundRect">
            <a:avLst>
              <a:gd name="adj" fmla="val 4103"/>
            </a:avLst>
          </a:prstGeom>
          <a:solidFill>
            <a:schemeClr val="bg1"/>
          </a:solidFill>
          <a:ln/>
        </p:spPr>
      </p:sp>
      <p:sp>
        <p:nvSpPr>
          <p:cNvPr id="5" name="badge"/>
          <p:cNvSpPr/>
          <p:nvPr/>
        </p:nvSpPr>
        <p:spPr>
          <a:xfrm>
            <a:off x="685800" y="2331720"/>
            <a:ext cx="420624" cy="420624"/>
          </a:xfrm>
          <a:prstGeom prst="ellipse">
            <a:avLst/>
          </a:prstGeom>
          <a:solidFill>
            <a:schemeClr val="accent1"/>
          </a:solidFill>
          <a:ln/>
        </p:spPr>
      </p:sp>
      <p:sp>
        <p:nvSpPr>
          <p:cNvPr id="6" name="Text 4"/>
          <p:cNvSpPr txBox="1"/>
          <p:nvPr/>
        </p:nvSpPr>
        <p:spPr>
          <a:xfrm>
            <a:off x="685800" y="23317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234440" y="2331720"/>
            <a:ext cx="2148840" cy="420624"/>
          </a:xfrm>
          <a:prstGeom prst="rect">
            <a:avLst/>
          </a:prstGeom>
          <a:noFill/>
          <a:ln/>
        </p:spPr>
        <p:txBody>
          <a:bodyPr wrap="square" lIns="0" tIns="0" rIns="0" bIns="0" rtlCol="0" anchor="ctr"/>
          <a:lstStyle/>
          <a:p>
            <a:pPr indent="0" marL="0">
              <a:buNone/>
            </a:pPr>
            <a:r>
              <a:rPr lang="en-US" sz="1700" b="1" dirty="0">
                <a:solidFill>
                  <a:schemeClr val="accent1"/>
                </a:solidFill>
              </a:rPr>
              <a:t>학술적 기여</a:t>
            </a:r>
            <a:endParaRPr lang="en-US" sz="1700" dirty="0"/>
          </a:p>
        </p:txBody>
      </p:sp>
      <p:sp>
        <p:nvSpPr>
          <p:cNvPr id="8" name="Text 6"/>
          <p:cNvSpPr txBox="1"/>
          <p:nvPr/>
        </p:nvSpPr>
        <p:spPr>
          <a:xfrm>
            <a:off x="685800" y="2898648"/>
            <a:ext cx="2697480" cy="960120"/>
          </a:xfrm>
          <a:prstGeom prst="rect">
            <a:avLst/>
          </a:prstGeom>
          <a:noFill/>
          <a:ln/>
        </p:spPr>
        <p:txBody>
          <a:bodyPr wrap="square" lIns="0" tIns="0" rIns="0" bIns="0" rtlCol="0" anchor="t"/>
          <a:lstStyle/>
          <a:p>
            <a:pPr indent="0" marL="0">
              <a:buNone/>
            </a:pPr>
            <a:r>
              <a:rPr lang="en-US" sz="1450" dirty="0">
                <a:solidFill>
                  <a:schemeClr val="tx1"/>
                </a:solidFill>
              </a:rPr>
              <a:t>정원사의 미적 판단과 관리 노동, 공간·운영 조건의 관계를 하나의 분석 안에서 설명</a:t>
            </a:r>
            <a:endParaRPr lang="en-US" sz="1450" dirty="0"/>
          </a:p>
        </p:txBody>
      </p:sp>
      <p:sp>
        <p:nvSpPr>
          <p:cNvPr id="9" name="contribution-card"/>
          <p:cNvSpPr/>
          <p:nvPr/>
        </p:nvSpPr>
        <p:spPr>
          <a:xfrm>
            <a:off x="3813048" y="2148840"/>
            <a:ext cx="3063240" cy="1783080"/>
          </a:xfrm>
          <a:prstGeom prst="roundRect">
            <a:avLst>
              <a:gd name="adj" fmla="val 4103"/>
            </a:avLst>
          </a:prstGeom>
          <a:solidFill>
            <a:schemeClr val="bg1"/>
          </a:solidFill>
          <a:ln/>
        </p:spPr>
      </p:sp>
      <p:sp>
        <p:nvSpPr>
          <p:cNvPr id="10" name="badge"/>
          <p:cNvSpPr/>
          <p:nvPr/>
        </p:nvSpPr>
        <p:spPr>
          <a:xfrm>
            <a:off x="3995928" y="2331720"/>
            <a:ext cx="420624" cy="420624"/>
          </a:xfrm>
          <a:prstGeom prst="ellipse">
            <a:avLst/>
          </a:prstGeom>
          <a:solidFill>
            <a:schemeClr val="accent1"/>
          </a:solidFill>
          <a:ln/>
        </p:spPr>
      </p:sp>
      <p:sp>
        <p:nvSpPr>
          <p:cNvPr id="11" name="Text 9"/>
          <p:cNvSpPr txBox="1"/>
          <p:nvPr/>
        </p:nvSpPr>
        <p:spPr>
          <a:xfrm>
            <a:off x="3995928" y="23317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544568" y="2331720"/>
            <a:ext cx="2148840" cy="420624"/>
          </a:xfrm>
          <a:prstGeom prst="rect">
            <a:avLst/>
          </a:prstGeom>
          <a:noFill/>
          <a:ln/>
        </p:spPr>
        <p:txBody>
          <a:bodyPr wrap="square" lIns="0" tIns="0" rIns="0" bIns="0" rtlCol="0" anchor="ctr"/>
          <a:lstStyle/>
          <a:p>
            <a:pPr indent="0" marL="0">
              <a:buNone/>
            </a:pPr>
            <a:r>
              <a:rPr lang="en-US" sz="1700" b="1" dirty="0">
                <a:solidFill>
                  <a:schemeClr val="accent1"/>
                </a:solidFill>
              </a:rPr>
              <a:t>실무적 활용</a:t>
            </a:r>
            <a:endParaRPr lang="en-US" sz="1700" dirty="0"/>
          </a:p>
        </p:txBody>
      </p:sp>
      <p:sp>
        <p:nvSpPr>
          <p:cNvPr id="13" name="Text 11"/>
          <p:cNvSpPr txBox="1"/>
          <p:nvPr/>
        </p:nvSpPr>
        <p:spPr>
          <a:xfrm>
            <a:off x="3995928" y="2898648"/>
            <a:ext cx="2697480" cy="960120"/>
          </a:xfrm>
          <a:prstGeom prst="rect">
            <a:avLst/>
          </a:prstGeom>
          <a:noFill/>
          <a:ln/>
        </p:spPr>
        <p:txBody>
          <a:bodyPr wrap="square" lIns="0" tIns="0" rIns="0" bIns="0" rtlCol="0" anchor="t"/>
          <a:lstStyle/>
          <a:p>
            <a:pPr indent="0" marL="0">
              <a:buNone/>
            </a:pPr>
            <a:r>
              <a:rPr lang="en-US" sz="1450" dirty="0">
                <a:solidFill>
                  <a:schemeClr val="tx1"/>
                </a:solidFill>
              </a:rPr>
              <a:t>급수 동선·작업공간·역할 분담·관리 기록·인계를 조성·운영 단계의 검토 항목으로 정리</a:t>
            </a:r>
            <a:endParaRPr lang="en-US" sz="1450" dirty="0"/>
          </a:p>
        </p:txBody>
      </p:sp>
      <p:sp>
        <p:nvSpPr>
          <p:cNvPr id="14" name="contribution-card"/>
          <p:cNvSpPr/>
          <p:nvPr/>
        </p:nvSpPr>
        <p:spPr>
          <a:xfrm>
            <a:off x="7123176" y="2148840"/>
            <a:ext cx="3063240" cy="1783080"/>
          </a:xfrm>
          <a:prstGeom prst="roundRect">
            <a:avLst>
              <a:gd name="adj" fmla="val 4103"/>
            </a:avLst>
          </a:prstGeom>
          <a:solidFill>
            <a:schemeClr val="bg1"/>
          </a:solidFill>
          <a:ln/>
        </p:spPr>
      </p:sp>
      <p:sp>
        <p:nvSpPr>
          <p:cNvPr id="15" name="badge"/>
          <p:cNvSpPr/>
          <p:nvPr/>
        </p:nvSpPr>
        <p:spPr>
          <a:xfrm>
            <a:off x="7306056" y="2331720"/>
            <a:ext cx="420624" cy="420624"/>
          </a:xfrm>
          <a:prstGeom prst="ellipse">
            <a:avLst/>
          </a:prstGeom>
          <a:solidFill>
            <a:schemeClr val="accent1"/>
          </a:solidFill>
          <a:ln/>
        </p:spPr>
      </p:sp>
      <p:sp>
        <p:nvSpPr>
          <p:cNvPr id="16" name="Text 14"/>
          <p:cNvSpPr txBox="1"/>
          <p:nvPr/>
        </p:nvSpPr>
        <p:spPr>
          <a:xfrm>
            <a:off x="7306056" y="23317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7854696" y="2331720"/>
            <a:ext cx="2148840" cy="420624"/>
          </a:xfrm>
          <a:prstGeom prst="rect">
            <a:avLst/>
          </a:prstGeom>
          <a:noFill/>
          <a:ln/>
        </p:spPr>
        <p:txBody>
          <a:bodyPr wrap="square" lIns="0" tIns="0" rIns="0" bIns="0" rtlCol="0" anchor="ctr"/>
          <a:lstStyle/>
          <a:p>
            <a:pPr indent="0" marL="0">
              <a:buNone/>
            </a:pPr>
            <a:r>
              <a:rPr lang="en-US" sz="1700" b="1" dirty="0">
                <a:solidFill>
                  <a:schemeClr val="accent1"/>
                </a:solidFill>
              </a:rPr>
              <a:t>교육과 기록</a:t>
            </a:r>
            <a:endParaRPr lang="en-US" sz="1700" dirty="0"/>
          </a:p>
        </p:txBody>
      </p:sp>
      <p:sp>
        <p:nvSpPr>
          <p:cNvPr id="18" name="Text 16"/>
          <p:cNvSpPr txBox="1"/>
          <p:nvPr/>
        </p:nvSpPr>
        <p:spPr>
          <a:xfrm>
            <a:off x="7306056" y="2898648"/>
            <a:ext cx="2697480" cy="960120"/>
          </a:xfrm>
          <a:prstGeom prst="rect">
            <a:avLst/>
          </a:prstGeom>
          <a:noFill/>
          <a:ln/>
        </p:spPr>
        <p:txBody>
          <a:bodyPr wrap="square" lIns="0" tIns="0" rIns="0" bIns="0" rtlCol="0" anchor="t"/>
          <a:lstStyle/>
          <a:p>
            <a:pPr indent="0" marL="0">
              <a:buNone/>
            </a:pPr>
            <a:r>
              <a:rPr lang="en-US" sz="1450" dirty="0">
                <a:solidFill>
                  <a:schemeClr val="tx1"/>
                </a:solidFill>
              </a:rPr>
              <a:t>관리자의 경험을 논문과 사례 기록, 시민·실무자가 읽는 교육자료로 환원</a:t>
            </a:r>
            <a:endParaRPr lang="en-US" sz="1450" dirty="0"/>
          </a:p>
        </p:txBody>
      </p:sp>
      <p:sp>
        <p:nvSpPr>
          <p:cNvPr id="19" name="Text 17"/>
          <p:cNvSpPr txBox="1"/>
          <p:nvPr/>
        </p:nvSpPr>
        <p:spPr>
          <a:xfrm>
            <a:off x="502920" y="4114800"/>
            <a:ext cx="2743200" cy="320040"/>
          </a:xfrm>
          <a:prstGeom prst="rect">
            <a:avLst/>
          </a:prstGeom>
          <a:noFill/>
          <a:ln/>
        </p:spPr>
        <p:txBody>
          <a:bodyPr wrap="square" lIns="0" tIns="0" rIns="0" bIns="0" rtlCol="0" anchor="t"/>
          <a:lstStyle/>
          <a:p>
            <a:pPr indent="0" marL="0">
              <a:buNone/>
            </a:pPr>
            <a:r>
              <a:rPr lang="en-US" sz="1500" b="1" dirty="0">
                <a:solidFill>
                  <a:schemeClr val="accent2"/>
                </a:solidFill>
              </a:rPr>
              <a:t>나의 강점</a:t>
            </a:r>
            <a:endParaRPr lang="en-US" sz="1500" dirty="0"/>
          </a:p>
        </p:txBody>
      </p:sp>
      <p:sp>
        <p:nvSpPr>
          <p:cNvPr id="20" name="strength-card"/>
          <p:cNvSpPr/>
          <p:nvPr/>
        </p:nvSpPr>
        <p:spPr>
          <a:xfrm>
            <a:off x="502920" y="4480560"/>
            <a:ext cx="3063240" cy="1463040"/>
          </a:xfrm>
          <a:prstGeom prst="roundRect">
            <a:avLst>
              <a:gd name="adj" fmla="val 5000"/>
            </a:avLst>
          </a:prstGeom>
          <a:solidFill>
            <a:schemeClr val="bg1">
              <a:alpha val="12000"/>
            </a:schemeClr>
          </a:solidFill>
          <a:ln/>
        </p:spPr>
      </p:sp>
      <p:sp>
        <p:nvSpPr>
          <p:cNvPr id="21" name="Text 19"/>
          <p:cNvSpPr txBox="1"/>
          <p:nvPr/>
        </p:nvSpPr>
        <p:spPr>
          <a:xfrm>
            <a:off x="685800" y="4590288"/>
            <a:ext cx="2697480" cy="365760"/>
          </a:xfrm>
          <a:prstGeom prst="rect">
            <a:avLst/>
          </a:prstGeom>
          <a:noFill/>
          <a:ln/>
        </p:spPr>
        <p:txBody>
          <a:bodyPr wrap="square" lIns="0" tIns="0" rIns="0" bIns="0" rtlCol="0" anchor="ctr"/>
          <a:lstStyle/>
          <a:p>
            <a:pPr indent="0" marL="0">
              <a:buNone/>
            </a:pPr>
            <a:r>
              <a:rPr lang="en-US" sz="1500" b="1" dirty="0">
                <a:solidFill>
                  <a:schemeClr val="accent3"/>
                </a:solidFill>
              </a:rPr>
              <a:t>자료를 구조화해 전달</a:t>
            </a:r>
            <a:endParaRPr lang="en-US" sz="1500" dirty="0"/>
          </a:p>
        </p:txBody>
      </p:sp>
      <p:sp>
        <p:nvSpPr>
          <p:cNvPr id="22" name="Text 20"/>
          <p:cNvSpPr txBox="1"/>
          <p:nvPr/>
        </p:nvSpPr>
        <p:spPr>
          <a:xfrm>
            <a:off x="685800" y="5010912"/>
            <a:ext cx="2697480" cy="868680"/>
          </a:xfrm>
          <a:prstGeom prst="rect">
            <a:avLst/>
          </a:prstGeom>
          <a:noFill/>
          <a:ln/>
        </p:spPr>
        <p:txBody>
          <a:bodyPr wrap="square" lIns="0" tIns="0" rIns="0" bIns="0" rtlCol="0" anchor="t"/>
          <a:lstStyle/>
          <a:p>
            <a:pPr indent="0" marL="0">
              <a:buNone/>
            </a:pPr>
            <a:r>
              <a:rPr lang="en-US" sz="1400" dirty="0">
                <a:solidFill>
                  <a:schemeClr val="bg1"/>
                </a:solidFill>
              </a:rPr>
              <a:t>보고서 디자인·매뉴얼 편집 경험으로 선행연구와 현장 자료의 관계를 분명하게 설명</a:t>
            </a:r>
            <a:endParaRPr lang="en-US" sz="1400" dirty="0"/>
          </a:p>
        </p:txBody>
      </p:sp>
      <p:sp>
        <p:nvSpPr>
          <p:cNvPr id="23" name="strength-card"/>
          <p:cNvSpPr/>
          <p:nvPr/>
        </p:nvSpPr>
        <p:spPr>
          <a:xfrm>
            <a:off x="3813048" y="4480560"/>
            <a:ext cx="3063240" cy="1463040"/>
          </a:xfrm>
          <a:prstGeom prst="roundRect">
            <a:avLst>
              <a:gd name="adj" fmla="val 5000"/>
            </a:avLst>
          </a:prstGeom>
          <a:solidFill>
            <a:schemeClr val="bg1">
              <a:alpha val="12000"/>
            </a:schemeClr>
          </a:solidFill>
          <a:ln/>
        </p:spPr>
      </p:sp>
      <p:sp>
        <p:nvSpPr>
          <p:cNvPr id="24" name="Text 22"/>
          <p:cNvSpPr txBox="1"/>
          <p:nvPr/>
        </p:nvSpPr>
        <p:spPr>
          <a:xfrm>
            <a:off x="3995928" y="4590288"/>
            <a:ext cx="2697480" cy="365760"/>
          </a:xfrm>
          <a:prstGeom prst="rect">
            <a:avLst/>
          </a:prstGeom>
          <a:noFill/>
          <a:ln/>
        </p:spPr>
        <p:txBody>
          <a:bodyPr wrap="square" lIns="0" tIns="0" rIns="0" bIns="0" rtlCol="0" anchor="ctr"/>
          <a:lstStyle/>
          <a:p>
            <a:pPr indent="0" marL="0">
              <a:buNone/>
            </a:pPr>
            <a:r>
              <a:rPr lang="en-US" sz="1500" b="1" dirty="0">
                <a:solidFill>
                  <a:schemeClr val="accent3"/>
                </a:solidFill>
              </a:rPr>
              <a:t>설계·연구·운영을 잇는 관점</a:t>
            </a:r>
            <a:endParaRPr lang="en-US" sz="1500" dirty="0"/>
          </a:p>
        </p:txBody>
      </p:sp>
      <p:sp>
        <p:nvSpPr>
          <p:cNvPr id="25" name="Text 23"/>
          <p:cNvSpPr txBox="1"/>
          <p:nvPr/>
        </p:nvSpPr>
        <p:spPr>
          <a:xfrm>
            <a:off x="3995928" y="5010912"/>
            <a:ext cx="2697480" cy="868680"/>
          </a:xfrm>
          <a:prstGeom prst="rect">
            <a:avLst/>
          </a:prstGeom>
          <a:noFill/>
          <a:ln/>
        </p:spPr>
        <p:txBody>
          <a:bodyPr wrap="square" lIns="0" tIns="0" rIns="0" bIns="0" rtlCol="0" anchor="t"/>
          <a:lstStyle/>
          <a:p>
            <a:pPr indent="0" marL="0">
              <a:buNone/>
            </a:pPr>
            <a:r>
              <a:rPr lang="en-US" sz="1400" dirty="0">
                <a:solidFill>
                  <a:schemeClr val="bg1"/>
                </a:solidFill>
              </a:rPr>
              <a:t>도면과 다이어그램, 학술발표와 논문, 공유정원 운영을 모두 경험</a:t>
            </a:r>
            <a:endParaRPr lang="en-US" sz="1400" dirty="0"/>
          </a:p>
        </p:txBody>
      </p:sp>
      <p:sp>
        <p:nvSpPr>
          <p:cNvPr id="26" name="strength-card"/>
          <p:cNvSpPr/>
          <p:nvPr/>
        </p:nvSpPr>
        <p:spPr>
          <a:xfrm>
            <a:off x="7123176" y="4480560"/>
            <a:ext cx="3063240" cy="1463040"/>
          </a:xfrm>
          <a:prstGeom prst="roundRect">
            <a:avLst>
              <a:gd name="adj" fmla="val 5000"/>
            </a:avLst>
          </a:prstGeom>
          <a:solidFill>
            <a:schemeClr val="bg1">
              <a:alpha val="12000"/>
            </a:schemeClr>
          </a:solidFill>
          <a:ln/>
        </p:spPr>
      </p:sp>
      <p:sp>
        <p:nvSpPr>
          <p:cNvPr id="27" name="Text 25"/>
          <p:cNvSpPr txBox="1"/>
          <p:nvPr/>
        </p:nvSpPr>
        <p:spPr>
          <a:xfrm>
            <a:off x="7306056" y="4590288"/>
            <a:ext cx="2697480" cy="365760"/>
          </a:xfrm>
          <a:prstGeom prst="rect">
            <a:avLst/>
          </a:prstGeom>
          <a:noFill/>
          <a:ln/>
        </p:spPr>
        <p:txBody>
          <a:bodyPr wrap="square" lIns="0" tIns="0" rIns="0" bIns="0" rtlCol="0" anchor="ctr"/>
          <a:lstStyle/>
          <a:p>
            <a:pPr indent="0" marL="0">
              <a:buNone/>
            </a:pPr>
            <a:r>
              <a:rPr lang="en-US" sz="1500" b="1" dirty="0">
                <a:solidFill>
                  <a:schemeClr val="accent3"/>
                </a:solidFill>
              </a:rPr>
              <a:t>연구 범위를 조절하는 방식</a:t>
            </a:r>
            <a:endParaRPr lang="en-US" sz="1500" dirty="0"/>
          </a:p>
        </p:txBody>
      </p:sp>
      <p:sp>
        <p:nvSpPr>
          <p:cNvPr id="28" name="Text 26"/>
          <p:cNvSpPr txBox="1"/>
          <p:nvPr/>
        </p:nvSpPr>
        <p:spPr>
          <a:xfrm>
            <a:off x="7306056" y="5010912"/>
            <a:ext cx="2697480" cy="868680"/>
          </a:xfrm>
          <a:prstGeom prst="rect">
            <a:avLst/>
          </a:prstGeom>
          <a:noFill/>
          <a:ln/>
        </p:spPr>
        <p:txBody>
          <a:bodyPr wrap="square" lIns="0" tIns="0" rIns="0" bIns="0" rtlCol="0" anchor="t"/>
          <a:lstStyle/>
          <a:p>
            <a:pPr indent="0" marL="0">
              <a:buNone/>
            </a:pPr>
            <a:r>
              <a:rPr lang="en-US" sz="1400" dirty="0">
                <a:solidFill>
                  <a:schemeClr val="bg1"/>
                </a:solidFill>
              </a:rPr>
              <a:t>질문과 자료의 범위를 먼저 정하고, 소수 사례를 계절별로 반복 관찰</a:t>
            </a:r>
            <a:endParaRPr lang="en-US" sz="1400" dirty="0"/>
          </a:p>
        </p:txBody>
      </p:sp>
      <p:sp>
        <p:nvSpPr>
          <p:cNvPr id="29" name="thanks-bar"/>
          <p:cNvSpPr/>
          <p:nvPr/>
        </p:nvSpPr>
        <p:spPr>
          <a:xfrm>
            <a:off x="502920" y="6172200"/>
            <a:ext cx="9683496" cy="685800"/>
          </a:xfrm>
          <a:prstGeom prst="roundRect">
            <a:avLst>
              <a:gd name="adj" fmla="val 10667"/>
            </a:avLst>
          </a:prstGeom>
          <a:solidFill>
            <a:schemeClr val="accent3"/>
          </a:solidFill>
          <a:ln/>
        </p:spPr>
      </p:sp>
      <p:sp>
        <p:nvSpPr>
          <p:cNvPr id="30" name="Text 28"/>
          <p:cNvSpPr txBox="1"/>
          <p:nvPr/>
        </p:nvSpPr>
        <p:spPr>
          <a:xfrm>
            <a:off x="868680" y="6172200"/>
            <a:ext cx="4572000" cy="685800"/>
          </a:xfrm>
          <a:prstGeom prst="rect">
            <a:avLst/>
          </a:prstGeom>
          <a:noFill/>
          <a:ln/>
        </p:spPr>
        <p:txBody>
          <a:bodyPr wrap="square" lIns="0" tIns="0" rIns="0" bIns="0" rtlCol="0" anchor="ctr"/>
          <a:lstStyle/>
          <a:p>
            <a:pPr indent="0" marL="0">
              <a:buNone/>
            </a:pPr>
            <a:r>
              <a:rPr lang="en-US" sz="2400" b="1" dirty="0">
                <a:solidFill>
                  <a:schemeClr val="tx1"/>
                </a:solidFill>
              </a:rPr>
              <a:t>감사합니다</a:t>
            </a:r>
            <a:endParaRPr lang="en-US" sz="2400" dirty="0"/>
          </a:p>
        </p:txBody>
      </p:sp>
      <p:sp>
        <p:nvSpPr>
          <p:cNvPr id="31" name="Text 29"/>
          <p:cNvSpPr txBox="1"/>
          <p:nvPr/>
        </p:nvSpPr>
        <p:spPr>
          <a:xfrm>
            <a:off x="5065776" y="6172200"/>
            <a:ext cx="4754880" cy="685800"/>
          </a:xfrm>
          <a:prstGeom prst="rect">
            <a:avLst/>
          </a:prstGeom>
          <a:noFill/>
          <a:ln/>
        </p:spPr>
        <p:txBody>
          <a:bodyPr wrap="square" lIns="0" tIns="0" rIns="0" bIns="0" rtlCol="0" anchor="ctr"/>
          <a:lstStyle/>
          <a:p>
            <a:pPr algn="r" indent="0" marL="0">
              <a:buNone/>
            </a:pPr>
            <a:r>
              <a:rPr lang="en-US" sz="1400" b="1" dirty="0">
                <a:solidFill>
                  <a:schemeClr val="tx1"/>
                </a:solidFill>
              </a:rPr>
              <a:t>박정은  ·  협동과정 조경학전공 박사과정 지원</a:t>
            </a:r>
            <a:endParaRPr lang="en-US" sz="1400" dirty="0"/>
          </a:p>
        </p:txBody>
      </p:sp>
      <p:sp>
        <p:nvSpPr>
          <p:cNvPr id="25" name="Slide Number Placeholder 0"/>
          <p:cNvSpPr>
            <a:spLocks noGrp="1"/>
          </p:cNvSpPr>
          <p:nvPr>
            <p:ph type="sldNum" sz="quarter" idx="4294967295"/>
          </p:nvPr>
        </p:nvSpPr>
        <p:spPr>
          <a:xfrm>
            <a:off x="9637776" y="711403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angsoo Garden">
  <a:themeElements>
    <a:clrScheme name="Dangsoo Garden">
      <a:dk1>
        <a:srgbClr val="171917"/>
      </a:dk1>
      <a:lt1>
        <a:srgbClr val="FFFFFF"/>
      </a:lt1>
      <a:dk2>
        <a:srgbClr val="3B4A14"/>
      </a:dk2>
      <a:lt2>
        <a:srgbClr val="F0F2F0"/>
      </a:lt2>
      <a:accent1>
        <a:srgbClr val="597521"/>
      </a:accent1>
      <a:accent2>
        <a:srgbClr val="9FC438"/>
      </a:accent2>
      <a:accent3>
        <a:srgbClr val="F7E475"/>
      </a:accent3>
      <a:accent4>
        <a:srgbClr val="EBF4D9"/>
      </a:accent4>
      <a:accent5>
        <a:srgbClr val="626962"/>
      </a:accent5>
      <a:accent6>
        <a:srgbClr val="D9DDD5"/>
      </a:accent6>
      <a:hlink>
        <a:srgbClr val="597521"/>
      </a:hlink>
      <a:folHlink>
        <a:srgbClr val="626962"/>
      </a:folHlink>
    </a:clrScheme>
    <a:fontScheme name="Dangsoo Garden">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박사과정 지원 발표 - 정원은 어떻게 지속되는가</dc:title>
  <dc:subject>PptxGenJS Presentation</dc:subject>
  <dc:creator>박정은</dc:creator>
  <cp:lastModifiedBy>박정은</cp:lastModifiedBy>
  <cp:revision>1</cp:revision>
  <dcterms:created xsi:type="dcterms:W3CDTF">2026-10-19T21:28:38Z</dcterms:created>
  <dcterms:modified xsi:type="dcterms:W3CDTF">2026-10-19T21:28:38Z</dcterms:modified>
</cp:coreProperties>
</file>